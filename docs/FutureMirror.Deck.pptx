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4" Type="http://schemas.openxmlformats.org/officeDocument/2006/relationships/image" Target="media/image4.svg" /><Relationship Id="rId3" Type="http://schemas.openxmlformats.org/officeDocument/2006/relationships/image" Target="media/image3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3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16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Relationship Id="rId2" Type="http://schemas.openxmlformats.org/officeDocument/2006/relationships/image" Target="media/image5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Relationship Id="rId2" Type="http://schemas.openxmlformats.org/officeDocument/2006/relationships/image" Target="media/image7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总分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0E3F8C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C3 短答</c:v>
                </c:pt>
                <c:pt idx="1">
                  <c:v>C4 防御</c:v>
                </c:pt>
                <c:pt idx="2">
                  <c:v>C2 缺量化</c:v>
                </c:pt>
                <c:pt idx="3">
                  <c:v>C1 强答</c:v>
                </c:pt>
                <c:pt idx="4">
                  <c:v>C5 匹配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55</c:v>
                </c:pt>
                <c:pt idx="1">
                  <c:v>56</c:v>
                </c:pt>
                <c:pt idx="2">
                  <c:v>64</c:v>
                </c:pt>
                <c:pt idx="3">
                  <c:v>77</c:v>
                </c:pt>
                <c:pt idx="4">
                  <c:v>82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4A556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4A556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20000" y="666750"/>
            <a:ext cx="4572000" cy="4572000"/>
          </a:xfrm>
          <a:prstGeom prst="rect">
            <a:avLst/>
          </a:prstGeom>
          <a:ln/>
        </p:spPr>
      </p:pic>
      <p:sp>
        <p:nvSpPr>
          <p:cNvPr id="5" name=""/>
          <p:cNvSpPr/>
          <p:nvPr/>
        </p:nvSpPr>
        <p:spPr>
          <a:xfrm rot="0" flipH="0" flipV="0">
            <a:off x="0" y="6115050"/>
            <a:ext cx="12192000" cy="7429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6391275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150">
                <a:solidFill>
                  <a:srgbClr val="FFFFFF"/>
                </a:solidFill>
                <a:latin typeface="Noto Sans SC"/>
                <a:ea typeface="Noto Sans SC"/>
              </a:rPr>
              <a:t>汇报：</a:t>
            </a:r>
            <a:r>
              <a:rPr lang="en-US" sz="1275" spc="150">
                <a:solidFill>
                  <a:srgbClr val="FFFFFF"/>
                </a:solidFill>
                <a:latin typeface="Noto Sans SC"/>
                <a:ea typeface="Noto Sans SC"/>
              </a:rPr>
              <a:t xml:space="preserve">FutureMirror </a:t>
            </a:r>
            <a:r>
              <a:rPr lang="zh-CN" sz="1275" spc="150">
                <a:solidFill>
                  <a:srgbClr val="FFFFFF"/>
                </a:solidFill>
                <a:latin typeface="Noto Sans SC"/>
                <a:ea typeface="Noto Sans SC"/>
              </a:rPr>
              <a:t>开发团队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810625" y="6457950"/>
            <a:ext cx="76200" cy="762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039225" y="6391275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FFFFFF"/>
                </a:solidFill>
                <a:latin typeface="Noto Sans SC"/>
                <a:ea typeface="Noto Sans SC"/>
              </a:rPr>
              <a:t>技术文档第</a:t>
            </a:r>
            <a:r>
              <a:rPr lang="en-US" sz="1275" b="1" spc="150">
                <a:solidFill>
                  <a:srgbClr val="FFFFFF"/>
                </a:solidFill>
                <a:latin typeface="Noto Sans SC"/>
                <a:ea typeface="Noto Sans SC"/>
              </a:rPr>
              <a:t xml:space="preserve"> 7 </a:t>
            </a:r>
            <a:r>
              <a:rPr lang="zh-CN" sz="1275" b="1" spc="150">
                <a:solidFill>
                  <a:srgbClr val="FFFFFF"/>
                </a:solidFill>
                <a:latin typeface="Noto Sans SC"/>
                <a:ea typeface="Noto Sans SC"/>
              </a:rPr>
              <a:t>章配套演示材料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876300"/>
            <a:ext cx="10668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450">
                <a:solidFill>
                  <a:srgbClr val="3D7BD9"/>
                </a:solidFill>
                <a:latin typeface="Noto Sans SC"/>
                <a:ea typeface="Noto Sans SC"/>
              </a:rPr>
              <a:t>作品演示</a:t>
            </a:r>
            <a:r>
              <a:rPr lang="en-US" sz="1275" b="1" spc="450">
                <a:solidFill>
                  <a:srgbClr val="3D7BD9"/>
                </a:solidFill>
                <a:latin typeface="Noto Sans SC"/>
                <a:ea typeface="Noto Sans SC"/>
              </a:rPr>
              <a:t xml:space="preserve"> · 2026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1323975"/>
            <a:ext cx="1295400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100" b="1">
                <a:solidFill>
                  <a:srgbClr val="0E3F8C"/>
                </a:solidFill>
                <a:latin typeface="Noto Sans SC"/>
                <a:ea typeface="Noto Sans SC"/>
              </a:rPr>
              <a:t>面镜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28850" y="1323975"/>
            <a:ext cx="2943225" cy="8572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050" b="1" spc="75">
                <a:solidFill>
                  <a:srgbClr val="1E4FA8"/>
                </a:solidFill>
                <a:latin typeface="Noto Sans SC"/>
                <a:ea typeface="Noto Sans SC"/>
              </a:rPr>
              <a:t>FutureMirror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spc="38">
                <a:solidFill>
                  <a:srgbClr val="1E4FA8"/>
                </a:solidFill>
                <a:latin typeface="Times New Roman"/>
                <a:ea typeface="Times New Roman"/>
              </a:rPr>
              <a:t>Multi-Agent Mock Interview &amp; Capability Growth Platform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762000" y="295275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3200400"/>
            <a:ext cx="10668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Noto Sans SC"/>
                <a:ea typeface="Noto Sans SC"/>
              </a:rPr>
              <a:t>多</a:t>
            </a:r>
            <a:r>
              <a:rPr lang="en-US" sz="1950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950">
                <a:solidFill>
                  <a:srgbClr val="4A5568"/>
                </a:solidFill>
                <a:latin typeface="Noto Sans SC"/>
                <a:ea typeface="Noto Sans SC"/>
              </a:rPr>
              <a:t>模拟面试与能力成长平台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762000" y="4048125"/>
            <a:ext cx="5715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52500" y="4057650"/>
            <a:ext cx="3609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三个核心算法</a:t>
            </a:r>
            <a:r>
              <a:rPr lang="en-US" sz="1725" b="1">
                <a:solidFill>
                  <a:srgbClr val="0E3F8C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全部证据可当场复现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62000" y="4733925"/>
            <a:ext cx="106680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62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33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28700" y="5562600"/>
            <a:ext cx="228600" cy="22860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485900" y="5467350"/>
            <a:ext cx="146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多</a:t>
            </a: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两层调度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485900" y="57245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模式层轮转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内容层派发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4191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362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457700" y="5562600"/>
            <a:ext cx="228600" cy="2286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914900" y="5467350"/>
            <a:ext cx="1990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六阶段</a:t>
            </a:r>
            <a:r>
              <a:rPr lang="en-US" sz="1425" b="1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五特征重排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914900" y="572452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BM25 ×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向量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×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规则重排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620000" y="5238750"/>
            <a:ext cx="3238500" cy="876300"/>
          </a:xfrm>
          <a:prstGeom prst="roundRect">
            <a:avLst>
              <a:gd name="adj" fmla="val 65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791450" y="5467350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86700" y="5562600"/>
            <a:ext cx="228600" cy="2286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43900" y="54673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43900" y="5724525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双引擎对拍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5/5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一致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0" y="0"/>
            <a:ext cx="390525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685800"/>
            <a:ext cx="29527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600">
                <a:solidFill>
                  <a:srgbClr val="FFFFFF"/>
                </a:solidFill>
                <a:latin typeface="Noto Sans SC"/>
                <a:ea typeface="Noto Sans SC"/>
              </a:rPr>
              <a:t>目</a:t>
            </a:r>
            <a:r>
              <a:rPr lang="en-US" sz="3450" b="1" spc="600">
                <a:solidFill>
                  <a:srgbClr val="FFFFFF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3450" b="1" spc="600">
                <a:solidFill>
                  <a:srgbClr val="FFFFFF"/>
                </a:solidFill>
                <a:latin typeface="Noto Sans SC"/>
                <a:ea typeface="Noto Sans SC"/>
              </a:rPr>
              <a:t>录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1314450"/>
            <a:ext cx="2952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300">
                <a:solidFill>
                  <a:srgbClr val="9FB9E4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33400" y="17621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33400" y="2047875"/>
            <a:ext cx="295275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四个章节，一条论证主线：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从真实问题出发，到算法级证据，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再到真实完成度，最后现场验证。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33400" y="6696075"/>
            <a:ext cx="2952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面镜</a:t>
            </a:r>
            <a:r>
              <a:rPr lang="en-US" sz="1050">
                <a:solidFill>
                  <a:srgbClr val="9FB9E4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438650" y="4191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438650" y="7620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600575" y="9048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219700" y="752475"/>
            <a:ext cx="5857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219700" y="1076325"/>
            <a:ext cx="5857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三个真实痛点与对应的设计决策；一套业务逻辑的三种部署形态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1287125" y="96202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P3–P5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4438650" y="16764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438650" y="20193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600575" y="21621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219700" y="2009775"/>
            <a:ext cx="578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原创性论证：三大核心算法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5219700" y="2333625"/>
            <a:ext cx="5781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多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两层调度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RAG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六阶段与五特征重排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1210925" y="2219325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P6–P11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438650" y="2933700"/>
            <a:ext cx="7219950" cy="1257300"/>
          </a:xfrm>
          <a:custGeom>
            <a:pathLst>
              <a:path w="758" h="132">
                <a:moveTo>
                  <a:pt x="0" y="131"/>
                </a:moveTo>
                <a:lnTo>
                  <a:pt x="758" y="131"/>
                </a:lnTo>
                <a:lnTo>
                  <a:pt x="758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438650" y="32766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600575" y="34194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219700" y="3267075"/>
            <a:ext cx="5715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真实完成度与工程质量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219700" y="3590925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线上真实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闭环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三级降级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全量回归与四渠道发布流水线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144250" y="34766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P12–P14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438650" y="4533900"/>
            <a:ext cx="571500" cy="571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600575" y="4676775"/>
            <a:ext cx="2571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E4FA8"/>
                </a:solidFill>
                <a:latin typeface="Noto Sans SC"/>
                <a:ea typeface="Noto Sans SC"/>
              </a:rPr>
              <a:t>04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219700" y="4533900"/>
            <a:ext cx="57150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219700" y="4857750"/>
            <a:ext cx="5715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两个免安装演示入口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演示账号一键登录</a:t>
            </a:r>
            <a:r>
              <a:rPr lang="en-US" sz="112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Noto Sans SC"/>
                <a:ea typeface="Noto Sans SC"/>
              </a:rPr>
              <a:t>可当场运行的双引擎对拍脚本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144250" y="47434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Noto Sans SC"/>
                <a:ea typeface="Noto Sans SC"/>
              </a:rPr>
              <a:t>P15–P16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8" name="" descr="&lt;Slide style={{&#13;&#10;    width: '1280px',&#13;&#10;    height: '720px',&#13;&#10;    background: '#FFFFFF',&#13;&#10;    padding: 0,&#13;&#10;    position: 'relative',&#13;&#10;    overflow: 'hidden',&#13;&#10;    fontFamily: &quot;'Noto Sans SC','Source Han Sans SC','PingFang SC','Microsoft YaHei',sans-serif&quot;,&#13;&#10;}}&gt;&#13;&#10;    {/* 左：藏蓝巨数字面板 */}&#13;&#10;    &lt;Box style={{&#13;&#10;        position: 'absolute',&#13;&#10;        top: 0,&#13;&#10;        left: 0,&#13;&#10;        width: 460,&#13;&#10;        height: 720,&#13;&#10;        background: '#0E3F8C',&#13;&#10;        justifyContent: 'center',&#13;&#10;        alignItems: 'center',&#13;&#10;    }}&gt;&#13;&#10;        &lt;Text style={{ fontSize: 15, color: '#9FB9E4', letterSpacing: 6, marginBottom: 8 }}&gt;&#13;&#10;            CHAPTER&#13;&#10;        &lt;/Text&gt;&#13;&#10;        &lt;Text style={{ fontSize: 210, fontWeight: 'bold', color: '#FFFFFF', opacity: 0.28, lineHeight: 1 }}&gt;&#13;&#10;            01&#13;&#10;        &lt;/Text&gt;&#13;&#10;    &lt;/Box&gt;&#13;&#10;    {/* 右上：章节页眉带 */}&#13;&#10;    &lt;Box style={{&#13;&#10;        position: 'absolute',&#13;&#10;        top: 0,&#13;&#10;        left: 460,&#13;&#10;        width: 820,&#13;&#10;        height: 236,&#13;&#10;        background: '#F7F9FC',&#13;&#10;        borderBottom: '1px solid #E5E7EB',&#13;&#10;        padding: '0 72px',&#13;&#10;        boxSizing: 'border-box',&#13;&#10;        flexDirection: 'row',&#13;&#10;        alignItems: 'center',&#13;&#10;        justifyContent: 'space-between',&#13;&#10;    }}&gt;&#13;&#10;        &lt;Box style={{ width: 470, height: 120, justifyContent: 'center' }}&gt;&#13;&#10;            &lt;Text style={{ fontSize: 15, color: '#3D7BD9', letterSpacing: 4, fontWeight: 'bold' }}&gt;&#13;&#10;                第 01 章&#13;&#10;            &lt;/Text&gt;&#13;&#10;            &lt;Text style={{ fontSize: 44, fontWeight: 'bold', color: '#0E3F8C', marginTop: 14 }}&gt;&#13;&#10;                问题与方案&#13;&#10;            &lt;/Text&gt;&#13;&#10;            &lt;Box style={{ width: 72, height: 4, background: '#FFC107', marginTop: 22 }} /&gt;&#13;&#10;        &lt;/Box&gt;&#13;&#10;        &lt;Box style={{ height: 100, background: '#E8EFF8', padding: '0 24px', alignItems: 'center', justifyContent: 'center' }}&gt;&#13;&#10;            &lt;Text style={{ fontSize: 46, fontWeight: 'bold', color: '#1E4FA8', lineHeight: 1 }}&gt;&#13;&#10;                P3–P5&#13;&#10;            &lt;/Text&gt;&#13;&#10;            &lt;Text style={{ fontSize: 13, color: '#4A5568', marginTop: 8, letterSpacing: 3 }}&gt;&#13;&#10;                本章范围&#13;&#10;            &lt;/Text&gt;&#13;&#10;        &lt;/Box&gt;&#13;&#10;    &lt;/Box&gt;&#13;&#10;    {/* 右中：要点卡 */}&#13;&#10;    &lt;Box style={{ position: 'absolute', top: 236, left: 460, width: 820, height: 334, padding: '28px 72px 0 72px', boxSizing: 'border-box' }}&gt;&#13;&#10;        &lt;Box style={{ flexDirection: 'column', gap: 18 }}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三个真实痛点&lt;/Text&gt;&#13;&#10;                        &lt;Text style={{ fontSize: 16, color: '#4A5568', marginTop: 5, lineHeight: 1.5 }}&gt;&#13;&#10;                            练不了真面试 · 只给分数不解释 · 断网即废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为什么做&lt;/Text&gt;&#13;&#10;                &lt;/Box&gt;&#13;&#10;            &lt;/Box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对应的设计决策&lt;/Text&gt;&#13;&#10;                        &lt;Text style={{ fontSize: 16, color: '#4A5568', marginTop: 5, lineHeight: 1.5 }}&gt;&#13;&#10;                            五 Agent 圆桌按回答内容派发 · 每条评分引用原话 · 三级降级保底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如何解&lt;/Text&gt;&#13;&#10;                &lt;/Box&gt;&#13;&#10;            &lt;/Box&gt;&#13;&#10;            &lt;Box style={{ background: '#FFFFFF', border: '1px solid #D6DCE5', borderLeft: '4px solid #1E4FA8', padding: '14px 20px', flexDirection: 'row', alignItems: 'center', justifyContent: 'space-between' }}&gt;&#13;&#10;                &lt;Box style={{ flexDirection: 'row', alignItems: 'flex-start', gap: 14 }}&gt;&#13;&#10;                    &lt;Box style={{ width: 10, height: 10, background: '#1E4FA8', marginTop: 9 }} /&gt;&#13;&#10;                    &lt;Box&gt;&#13;&#10;                        &lt;Text style={{ fontSize: 21, fontWeight: 'bold', color: '#1A2230' }}&gt;一套业务逻辑，三种部署形态&lt;/Text&gt;&#13;&#10;                        &lt;Text style={{ fontSize: 16, color: '#4A5568', marginTop: 5, lineHeight: 1.5 }}&gt;&#13;&#10;                            单文件演示版 / 模块版 / FastAPI 服务端，后端优先策略统一调度&#13;&#10;                        &lt;/Text&gt;&#13;&#10;                    &lt;/Box&gt;&#13;&#10;                &lt;/Box&gt;&#13;&#10;                &lt;Box style={{ background: '#E8EFF8', padding: '6px 14px', marginLeft: 16 }}&gt;&#13;&#10;                    &lt;Text style={{ fontSize: 14, color: '#1E4FA8', fontWeight: 'bold' }}&gt;部署形态&lt;/Text&gt;&#13;&#10;                &lt;/Box&gt;&#13;&#10;            &lt;/Box&gt;&#13;&#10;        &lt;/Box&gt;&#13;&#10;    &lt;/Box&gt;&#13;&#10;    {/* 右下：本章导语通栏 */}&#13;&#10;    &lt;Box style={{&#13;&#10;        position: 'absolute',&#13;&#10;        bottom: 0,&#13;&#10;        left: 460,&#13;&#10;        width: 820,&#13;&#10;        height: 150,&#13;&#10;        background: '#0E3F8C',&#13;&#10;        padding: '0 72px',&#13;&#10;        boxSizing: 'border-box',&#13;&#10;        flexDirection: 'row',&#13;&#10;        alignItems: 'center',&#13;&#10;        justifyContent: 'space-between',&#13;&#10;    }}&gt;&#13;&#10;        &lt;Box style={{ width: 520 }}&gt;&#13;&#10;            &lt;Text style={{ fontSize: 17, fontWeight: 'bold', color: '#FFFFFF' }}&gt;&#13;&#10;                本章回答&#13;&#10;            &lt;/Text&gt;&#13;&#10;            &lt;Text style={{ fontSize: 16, color: '#D7E3F5', marginTop: 6, lineHeight: 1.6 }}&gt;&#13;&#10;                这个作品解决什么问题、为什么这样架构——为第 2 章的算法论证建立问题语境。&#13;&#10;            &lt;/Text&gt;&#13;&#10;        &lt;/Box&gt;&#13;&#10;        &lt;Box style={{ width: 120, alignItems: 'center', gap: 6 }}&gt;&#13;&#10;            &lt;FAIcon name='compass' style={{ fill: '#FFFFFF', width: 30, height: 30 }} /&gt;&#13;&#10;            &lt;Text style={{ fontSize: 13, color: '#9FB9E4', letterSpacing: 1 }}&gt;&#13;&#10;                第 01 章 · 问题与方案&#13;&#10;            &lt;/Text&gt;&#13;&#10;        &lt;/Box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01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67300" y="600075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01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67300" y="904875"/>
            <a:ext cx="4476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067300" y="16192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9829800" y="647700"/>
            <a:ext cx="16764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058400" y="742950"/>
            <a:ext cx="1219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P3–P5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3632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038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三个真实痛点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038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练不了真面试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只给分数不解释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断网即废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为什么做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4552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对应的设计决策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4552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五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圆桌按回答内容派发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每条评分引用原话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三级降级保底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10648950" y="3810000"/>
            <a:ext cx="6667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0782300" y="3867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如何解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4095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一套业务逻辑，三种部署形态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40957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单文件演示版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模块版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/ FastAPI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服务端，后端优先策略统一调度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部署形态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本章回答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这个作品解决什么问题、为什么这样架构——为第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 2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章的算法论证建立问题语境。</a:t>
            </a:r>
            <a:endParaRPr/>
          </a:p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01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6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714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三个真实痛点，对应三个设计决策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01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381000" y="1047750"/>
            <a:ext cx="3009900" cy="15525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33400" y="1181100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1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33400" y="1371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练不了真面试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33400" y="1638300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找同学对练时间难约；真人模拟面试一次几百元，且对方不懂目标岗位</a:t>
            </a:r>
            <a:endParaRPr/>
          </a:p>
        </p:txBody>
      </p:sp>
      <p:pic>
        <p:nvPicPr>
          <p:cNvPr id="3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1704975"/>
            <a:ext cx="247650" cy="247650"/>
          </a:xfrm>
          <a:prstGeom prst="rect">
            <a:avLst/>
          </a:prstGeom>
          <a:ln/>
        </p:spPr>
      </p:pic>
      <p:sp>
        <p:nvSpPr>
          <p:cNvPr id="369" name=""/>
          <p:cNvSpPr/>
          <p:nvPr/>
        </p:nvSpPr>
        <p:spPr>
          <a:xfrm rot="0" flipH="0" flipV="0">
            <a:off x="3943350" y="1047750"/>
            <a:ext cx="3562350" cy="1552575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095750" y="1181100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1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095750" y="1371600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五个角色化</a:t>
            </a:r>
            <a:r>
              <a:rPr lang="en-US" sz="1350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随时对练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4095750" y="1638300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按岗位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JD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自动出题、按回答内容动态追问，随时可练、成本近零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381000" y="2752725"/>
            <a:ext cx="3009900" cy="1543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2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33400" y="307657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只给分数，不解释为什么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33400" y="3343275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市面工具给一个总分或泛泛点评，用户不知道哪句话被扣了分</a:t>
            </a:r>
            <a:endParaRPr/>
          </a:p>
        </p:txBody>
      </p:sp>
      <p:pic>
        <p:nvPicPr>
          <p:cNvPr id="3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3400425"/>
            <a:ext cx="247650" cy="247650"/>
          </a:xfrm>
          <a:prstGeom prst="rect">
            <a:avLst/>
          </a:prstGeom>
          <a:ln/>
        </p:spPr>
      </p:pic>
      <p:sp>
        <p:nvSpPr>
          <p:cNvPr id="378" name=""/>
          <p:cNvSpPr/>
          <p:nvPr/>
        </p:nvSpPr>
        <p:spPr>
          <a:xfrm rot="0" flipH="0" flipV="0">
            <a:off x="3943350" y="2752725"/>
            <a:ext cx="3562350" cy="154305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095750" y="288607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2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095750" y="307657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五维评分，每条引用原话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095750" y="3343275"/>
            <a:ext cx="32575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报告可逐条核对；最弱维度自动生成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Day 1–N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学习计划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381000" y="4448175"/>
            <a:ext cx="3009900" cy="15525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33400" y="4581525"/>
            <a:ext cx="2705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D9534F"/>
                </a:solidFill>
                <a:latin typeface="Noto Sans SC"/>
                <a:ea typeface="Noto Sans SC"/>
              </a:rPr>
              <a:t>痛点</a:t>
            </a:r>
            <a:r>
              <a:rPr lang="en-US" sz="900" b="1" spc="150">
                <a:solidFill>
                  <a:srgbClr val="D9534F"/>
                </a:solidFill>
                <a:latin typeface="Noto Sans SC"/>
                <a:ea typeface="Noto Sans SC"/>
              </a:rPr>
              <a:t xml:space="preserve"> 3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33400" y="477202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演示场景断网即废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33400" y="5038725"/>
            <a:ext cx="2705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依赖云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的产品，在赛场网络不稳定时直接白屏</a:t>
            </a:r>
            <a:endParaRPr/>
          </a:p>
        </p:txBody>
      </p:sp>
      <p:pic>
        <p:nvPicPr>
          <p:cNvPr id="3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43300" y="5105400"/>
            <a:ext cx="247650" cy="247650"/>
          </a:xfrm>
          <a:prstGeom prst="rect">
            <a:avLst/>
          </a:prstGeom>
          <a:ln/>
        </p:spPr>
      </p:pic>
      <p:sp>
        <p:nvSpPr>
          <p:cNvPr id="387" name=""/>
          <p:cNvSpPr/>
          <p:nvPr/>
        </p:nvSpPr>
        <p:spPr>
          <a:xfrm rot="0" flipH="0" flipV="0">
            <a:off x="3943350" y="4448175"/>
            <a:ext cx="3562350" cy="1552575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095750" y="4581525"/>
            <a:ext cx="3257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1E4FA8"/>
                </a:solidFill>
                <a:latin typeface="Noto Sans SC"/>
                <a:ea typeface="Noto Sans SC"/>
              </a:rPr>
              <a:t>解法</a:t>
            </a:r>
            <a:r>
              <a:rPr lang="en-US" sz="900" b="1" spc="150">
                <a:solidFill>
                  <a:srgbClr val="1E4FA8"/>
                </a:solidFill>
                <a:latin typeface="Noto Sans SC"/>
                <a:ea typeface="Noto Sans SC"/>
              </a:rPr>
              <a:t xml:space="preserve"> 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095750" y="477202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三级降级，演示不中断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095750" y="5038725"/>
            <a:ext cx="3257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后端真实模型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浏览器直连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Key →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本地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，无网也能走完流程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7734300" y="1047750"/>
            <a:ext cx="4076700" cy="4953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7943850" y="12382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Noto Sans SC"/>
                <a:ea typeface="Noto Sans SC"/>
              </a:rPr>
              <a:t>方案速写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943850" y="1552575"/>
            <a:ext cx="381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943850" y="1771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258175" y="1771650"/>
            <a:ext cx="1038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个角色化</a:t>
            </a:r>
            <a:r>
              <a:rPr lang="en-US" sz="1200">
                <a:solidFill>
                  <a:srgbClr val="1A2230"/>
                </a:solidFill>
                <a:latin typeface="Noto Sans SC"/>
                <a:ea typeface="Noto Sans SC"/>
              </a:rPr>
              <a:t xml:space="preserve"> Agent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943850" y="24098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258175" y="2409825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轮结构化面试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7943850" y="304800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5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258175" y="3048000"/>
            <a:ext cx="9144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维可解释评分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7943850" y="368617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Noto Sans SC"/>
                <a:ea typeface="Noto Sans SC"/>
              </a:rPr>
              <a:t>3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258175" y="368617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Noto Sans SC"/>
                <a:ea typeface="Noto Sans SC"/>
              </a:rPr>
              <a:t>级降级链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943850" y="5153025"/>
            <a:ext cx="3657600" cy="9525"/>
          </a:xfrm>
          <a:prstGeom prst="rect">
            <a:avLst/>
          </a:prstGeom>
          <a:solidFill>
            <a:srgbClr val="C9D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943850" y="529590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5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个</a:t>
            </a: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不是题库轮转，是按回答内容派发——这是第</a:t>
            </a:r>
            <a:r>
              <a:rPr lang="en-US" sz="1050" b="1">
                <a:solidFill>
                  <a:srgbClr val="0E3F8C"/>
                </a:solidFill>
                <a:latin typeface="Noto Sans SC"/>
                <a:ea typeface="Noto Sans SC"/>
              </a:rPr>
              <a:t xml:space="preserve"> 2 </a:t>
            </a:r>
            <a:r>
              <a:rPr lang="zh-CN" sz="1050" b="1">
                <a:solidFill>
                  <a:srgbClr val="0E3F8C"/>
                </a:solidFill>
                <a:latin typeface="Noto Sans SC"/>
                <a:ea typeface="Noto Sans SC"/>
              </a:rPr>
              <a:t>章论证的起点。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7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一套业务逻辑，三种部署形态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1 问题与方案&#10;            &lt;/Text&gt;&#10;        &lt;/Box&gt;&#10;    &lt;/Box&gt;&#10;    {/* ===== 左侧标题栏 ===== */}&#10;    &lt;Box style={{ position: 'absolute', top: 84, left: 0, width: 356, height: 572, background: '#0E3F8C', padding: '30px 30px 26px 40px', boxSizing: 'border-box', flexDirection: 'column' }}&gt;&#10;        &lt;Text style={{ fontSize: 14, color: '#9FB9E4', letterSpacing: 4 }}&gt;&#10;            系统架构总览&#10;        &lt;/Text&gt;&#10;        &lt;Text style={{ fontSize: 27, fontWeight: 'bold', color: '#FFFFFF', marginTop: 14, lineHeight: 1.35 }}&gt;&#10;            一套业务逻辑&lt;br /&gt;三种部署形态&#10;        &lt;/Text&gt;&#10;        &lt;Box style={{ width: 48, height: 4, background: '#FFC107', marginTop: 18 }} /&gt;&#10;        &lt;Text style={{ fontSize: 15, color: '#D7E3F5', lineHeight: 1.85, marginTop: 18 }}&gt;&#10;            前端三种形态经适配层统一走「后端优先」策略：在线走服务端，离线自动回退本地引擎，业务逻辑零分叉。&#10;        &lt;/Text&gt;&#10;        &lt;Box style={{ flex: 1 }} /&gt;&#10;        &lt;Box style={{ background: '#1E4FA8', padding: '14px 16px' }}&gt;&#10;            &lt;Text style={{ fontSize: 15, fontWeight: 'bold', color: '#FFFFFF' }}&gt;&#10;                架构目标&#10;            &lt;/Text&gt;&#10;            &lt;Text style={{ fontSize: 14, color: '#D7E3F5', marginTop: 6, lineHeight: 1.6 }}&gt;&#10;                ① 密钥零前端接触&lt;br /&gt;② 赛场无网也能跑完&#10;            &lt;/Text&gt;&#10;        &lt;/Box&gt;&#10;    &lt;/Box&gt;&#10;    {/* ===== 右侧架构图 ===== */}&#10;    &lt;Box style={{ position: 'absolute', top: 84, left: 356, width: 924, height: 572, padding: '22px 36px', boxSizing: 'border-box' }}&gt;&#10;        &lt;svg width={852} height='520' viewBox='0 0 852 520' style={{ fontFamily: &quot;'Noto Sans SC','PingFang SC','Microsoft YaHei',sans-serif&quot; }}&gt;&#10;            {/* 第 1 层：前端三形态 */}&#10;            &lt;text x='0' y='26' fill='#0E3F8C' fontSize='16' fontWeight='bold'&gt;前端三形态&lt;/text&gt;&#10;            &lt;rect x='120' y='8' width='224' height='72' rx='4' fill='#FFFFFF' stroke='#1E4FA8' strokeWidth='1.5' /&gt;&#10;            &lt;text x='232' y='36' fill='#0E3F8C' fontSize='16' fontWeight='bold' textAnchor='middle'&gt;单文件演示版&lt;/text&gt;&#10;            &lt;text x='232' y='60' fill='#4A5568' fontSize='13' textAnchor='middle'&gt;零依赖 · 浏览器直接打开&lt;/text&gt;&#10;            &lt;rect x='360' y='8' width='224' height='72' rx='4' fill='#FFFFFF' stroke='#1E4FA8' strokeWidth='1.5' /&gt;&#10;            &lt;text x='472' y='36' fill='#0E3F8C' fontSize='16' fontWeight='bold' textAnchor='middle'&gt;模块版前端&lt;/text&gt;&#10;            &lt;text x='472' y='60' fill='#4A5568' fontSize='13' textAnchor='middle'&gt;ES Module · 工程化开发&lt;/text&gt;&#10;            &lt;rect x='600' y='8' width='224' height='72' rx='4' fill='#FFFFFF' stroke='#1E4FA8' strokeWidth='1.5' /&gt;&#10;            &lt;text x='712' y='36' fill='#0E3F8C' fontSize='16' fontWeight='bold' textAnchor='middle'&gt;同源托管版&lt;/text&gt;&#10;            &lt;text x='712' y='60' fill='#4A5568' fontSize='13' textAnchor='middle'&gt;演示页 + API 同域&lt;/text&gt;&#10;            {/* 连接箭头 1→2 */}&#10;            &lt;path d='M426 82 L426 104' stroke='#1E4FA8' strokeWidth='2' /&gt;&#10;            &lt;path d='M418 98 L426 110 L434 98 Z' fill='#1E4FA8' /&gt;&#10;            {/* 第 2 层：适配层 */}&#10;            &lt;text x='0' y='146' fill='#0E3F8C' fontSize='16' fontWeight='bold'&gt;适配层&lt;/text&gt;&#10;            &lt;rect x='120' y='124' width='704' height='48' rx='4' fill='#F0F5FC' stroke='#C9D8F0' strokeWidth='1.5' /&gt;&#10;            &lt;text x='472' y='153' fill='#0E3F8C' fontSize='15' fontWeight='bold' textAnchor='middle'&gt;后端优先适配：在线走服务端，失败自动回退本地引擎&lt;/text&gt;&#10;            {/* 连接箭头 2→3 */}&#10;            &lt;path d='M426 176 L426 198' stroke='#1E4FA8' strokeWidth='2' /&gt;&#10;            &lt;path d='M418 192 L426 204 L434 192 Z' fill='#1E4FA8' /&gt;&#10;            {/* 第 3 层：服务端 */}&#10;            &lt;text x='0' y='240' fill='#0E3F8C' fontSize='16' fontWeight='bold'&gt;服务端&lt;/text&gt;&#10;            &lt;rect x='120' y='218' width='704' height='120' rx='4' fill='#E8EFF8' stroke='#1E4FA8' strokeWidth='1.5' /&gt;&#10;            &lt;text x='136' y='244' fill='#0E3F8C' fontSize='15' fontWeight='bold'&gt;FastAPI&lt;/text&gt;&#10;            &lt;rect x='220' y='226' width='188' height='40' rx='3' fill='#FFFFFF' stroke='#C9D8F0' strokeWidth='1' /&gt;&#10;            &lt;text x='314' y='251' fill='#1A2230' fontSize='13' textAnchor='middle'&gt;JWT 鉴权（12h）&lt;/text&gt;&#10;            &lt;rect x='420' y='226' width='188' height='40' rx='3' fill='#FFFFFF' stroke='#C9D8F0' strokeWidth='1' /&gt;&#10;            &lt;text x='514' y='251' fill='#1A2230' fontSize='13' textAnchor='middle'&gt;scrypt 密码哈希&lt;/text&gt;&#10;            &lt;rect x='620' y='226' width='188' height='40' rx='3' fill='#FFFFFF' stroke='#C9D8F0' strokeWidth='1' /&gt;&#10;            &lt;text x='714' y='251' fill='#1A2230' fontSize='13' textAnchor='middle'&gt;SQLite 持久化&lt;/text&gt;&#10;            &lt;rect x='220' y='278' width='288' height='44' rx='3' fill='#FFFFFF' stroke='#C9D8F0' strokeWidth='1' /&gt;&#10;            &lt;text x='364' y='298' fill='#1A2230' fontSize='13' textAnchor='middle'&gt;GLM SSE 流式代理&lt;/text&gt;&#10;            &lt;text x='364' y='316' fill='#D9534F' fontSize='12' textAnchor='middle'&gt;Key 只在服务端环境变量&lt;/text&gt;&#10;            &lt;rect x='520' y='278' width='288' height='44' rx='3' fill='#FFFFFF' stroke='#C9D8F0' strokeWidth='1' /&gt;&#10;            &lt;text x='664' y='298' fill='#1A2230' fontSize='13' textAnchor='middle'&gt;评分引擎 Python 同构&lt;/text&gt;&#10;            &lt;text x='664' y='316' fill='#4A5568' fontSize='12' textAnchor='middle'&gt;与前端逐位一致（对拍 5/5）&lt;/text&gt;&#10;            {/* 连接箭头 3→4 */}&#10;            &lt;path d='M426 342 L426 364' stroke='#1E4FA8' strokeWidth='2' /&gt;&#10;            &lt;path d='M418 358 L426 370 L434 358 Z' fill='#1E4FA8' /&gt;&#10;            {/* 第 4 层：三级降级 */}&#10;            &lt;text x='0' y='406' fill='#0E3F8C' fontSize='16' fontWeight='bold'&gt;三级降级&lt;/text&gt;&#10;            &lt;rect x='120' y='384' width='204' height='60' rx='4' fill='#FFFFFF' stroke='#1E4FA8' strokeWidth='1.5' /&gt;&#10;            &lt;text x='222' y='409' fill='#0E3F8C' fontSize='14' fontWeight='bold' textAnchor='middle'&gt;① 后端真实模型&lt;/text&gt;&#10;            &lt;text x='222' y='430' fill='#4A5568' fontSize='12' textAnchor='middle'&gt;GLM-4-Flash 流式&lt;/text&gt;&#10;            &lt;path d='M328 414 L360 414' stroke='#1E4FA8' strokeWidth='2' /&gt;&#10;            &lt;path d='M352 407 L364 414 L352 421 Z' fill='#1E4FA8' /&gt;&#10;            &lt;rect x='368' y='384' width='204' height='60' rx='4' fill='#FFFFFF' stroke='#1E4FA8' strokeWidth='1.5' /&gt;&#10;            &lt;text x='470' y='409' fill='#0E3F8C' fontSize='14' fontWeight='bold' textAnchor='middle'&gt;② 浏览器直连 Key&lt;/text&gt;&#10;            &lt;text x='470' y='430' fill='#4A5568' fontSize='12' textAnchor='middle'&gt;sessionStorage 逃生通道&lt;/text&gt;&#10;            &lt;path d='M576 414 L608 414' stroke='#1E4FA8' strokeWidth='2' /&gt;&#10;            &lt;path d='M600 407 L612 414 L600 421 Z' fill='#1E4FA8' /&gt;&#10;            &lt;rect x='616' y='384' width='204' height='60' rx='4' fill='#FFFFFF' stroke='#1E4FA8' strokeWidth='1.5' /&gt;&#10;            &lt;text x='718' y='409' fill='#0E3F8C' fontSize='14' fontWeight='bold' textAnchor='middle'&gt;③ 本地 Mock&lt;/text&gt;&#10;            &lt;text x='718' y='430' fill='#4A5568' fontSize='12' textAnchor='middle'&gt;无网完整走完流程&lt;/text&gt;&#10;            {/* 降级注释 */}&#10;            &lt;rect x='120' y='458' width='704' height='44' rx='4' fill='#F7F9FC' stroke='#D6DCE5' strokeWidth='1' /&gt;&#10;            &lt;text x='472' y='485' fill='#4A5568' fontSize='13' textAnchor='middle'&gt;后端 5xx / 超时同样回退——赛场网络抖动不打断演示，评分与检索策略三级一致&lt;/text&gt;&#10;        &lt;/svg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05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1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321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一套业务逻辑，三种部署形态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01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问题与方案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系统架构总览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24150" cy="838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FFFFFF"/>
                </a:solidFill>
                <a:latin typeface="Noto Sans SC"/>
                <a:ea typeface="Noto Sans SC"/>
              </a:rPr>
              <a:t>一套业务逻辑</a:t>
            </a:r>
            <a:endParaRPr/>
          </a:p>
          <a:p>
            <a:pPr>
              <a:lnSpc>
                <a:spcPct val="135000"/>
              </a:lnSpc>
            </a:pPr>
            <a:r>
              <a:rPr lang="zh-CN" sz="2025" b="1">
                <a:solidFill>
                  <a:srgbClr val="FFFFFF"/>
                </a:solidFill>
                <a:latin typeface="Noto Sans SC"/>
                <a:ea typeface="Noto Sans SC"/>
              </a:rPr>
              <a:t>三种部署形态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81000" y="23907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81000" y="2600325"/>
            <a:ext cx="2724150" cy="952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前端三种形态经适配层统一走「后端优先」策略：在线走服务端，离线自动回退本地引擎，业务逻辑零分叉。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381000" y="4991100"/>
            <a:ext cx="272415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架构目标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193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密钥零前端接触</a:t>
            </a:r>
            <a:endParaRPr/>
          </a:p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赛场无网也能跑完</a:t>
            </a:r>
            <a:endParaRPr/>
          </a:p>
        </p:txBody>
      </p:sp>
      <p:pic>
        <p:nvPicPr>
          <p:cNvPr id="4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33800" y="1009650"/>
            <a:ext cx="8115300" cy="495300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6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2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70, height: 120, justifyContent: 'center' }}&gt;&#10;            &lt;Text style={{ fontSize: 15, color: '#3D7BD9', letterSpacing: 4, fontWeight: 'bold' }}&gt;&#10;                第 02 章&#10;            &lt;/Text&gt;&#10;            &lt;Text style={{ fontSize: 38, fontWeight: 'bold', color: '#0E3F8C', marginTop: 14 }}&gt;&#10;                原创性论证：三大核心算法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6–P11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多 Agent 两层调度&lt;/Text&gt;&#10;                        &lt;Text style={{ fontSize: 16, color: '#4A5568', marginTop: 5, lineHeight: 1.5 }}&gt;&#10;                            模式层轮转 + 内容层派发，每次换人都有据可查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决策留痕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RAG 六阶段 + 五特征重排&lt;/Text&gt;&#10;                        &lt;Text style={{ fontSize: 16, color: '#4A5568', marginTop: 5, lineHeight: 1.5 }}&gt;&#10;                            检索过程透明，三阶段得分可逐条核对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三阶段得分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评分引擎校准实证&lt;/Text&gt;&#10;                        &lt;Text style={{ fontSize: 16, color: '#4A5568', marginTop: 5, lineHeight: 1.5 }}&gt;&#10;                            规则引擎 + 双引擎对拍 + 一次真实缺陷修复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5/5 对拍&lt;/Text&gt;&#10;                &lt;/Box&gt;&#10;            &lt;/Box&gt;&#10;        &lt;/Box&gt;&#10;    &lt;/Box&gt;&#10;    {/* 右下：本章主张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主张&#10;            &lt;/Text&gt;&#10;            &lt;Text style={{ fontSize: 16, color: '#D7E3F5', marginTop: 6, lineHeight: 1.6 }}&gt;&#10;                做法来自设计，证据可以当场复现——这是区别于「AI 默认模板」作品的核心证据。&#10;            &lt;/Text&gt;&#10;        &lt;/Box&gt;&#10;        &lt;Box style={{ width: 120, alignItems: 'center', gap: 6 }}&gt;&#10;            &lt;FAIcon name='lightbulb' style={{ fill: '#FFFFFF', width: 30, height: 30 }} /&gt;&#10;            &lt;Text style={{ fontSize: 13, color: '#9FB9E4', letterSpacing: 1 }}&gt;&#10;                第 02 章 · 原创性论证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02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067300" y="628650"/>
            <a:ext cx="4476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02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067300" y="933450"/>
            <a:ext cx="44767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0E3F8C"/>
                </a:solidFill>
                <a:latin typeface="Noto Sans SC"/>
                <a:ea typeface="Noto Sans SC"/>
              </a:rPr>
              <a:t>原创性论证：三大核心算法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067300" y="15811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9601200" y="647700"/>
            <a:ext cx="19050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829800" y="742950"/>
            <a:ext cx="1447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P6–P11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2489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多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两层调度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模式层轮转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内容层派发，每次换人都有据可查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决策留痕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2590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六阶段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五特征重排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检索过程透明，三阶段得分可逐条核对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10382250" y="3810000"/>
            <a:ext cx="9334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0515600" y="38671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三阶段得分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2886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评分引擎校准实证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28860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规则引擎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双引擎对拍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一次真实缺陷修复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10553700" y="4819650"/>
            <a:ext cx="7620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687050" y="4876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 xml:space="preserve">5/5 </a:t>
            </a: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对拍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本章主张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做法来自设计，证据可以当场复现——这是区别于「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AI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默认模板」作品的核心证据。</a:t>
            </a:r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02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65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多 Agent 协作：两层调度，每次换人都有据可查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上部：两层调度流程图（L1 主视觉） ===== */}&#10;    &lt;Box style={{ position: 'absolute', top: 84, left: 0, width: '1280px', height: 316, padding: '20px 40px 0 40px', boxSizing: 'border-box' }}&gt;&#10;        &lt;svg width={1200} height='290' viewBox='0 0 1200 290' style={{ fontFamily: &quot;'Noto Sans SC','PingFang SC','Microsoft YaHei',sans-serif&quot; }}&gt;&#10;            {/* 阶段 1：候选人回答 */}&#10;            &lt;rect x='20' y='20' width='200' height='90' rx='4' fill='#FFFFFF' stroke='#1E4FA8' strokeWidth='1.5' /&gt;&#10;            &lt;text x='120' y='52' fill='#0E3F8C' fontSize='16' fontWeight='bold' textAnchor='middle'&gt;候选人回答&lt;/text&gt;&#10;            &lt;text x='120' y='78' fill='#4A5568' fontSize='12.5' textAnchor='middle'&gt;最近一轮回答内容&lt;/text&gt;&#10;            &lt;text x='120' y='96' fill='#8B97A8' fontSize='12' textAnchor='middle'&gt;+ 观察员标注&lt;/text&gt;&#10;            {/* 箭头 1→2 */}&#10;            &lt;path d='M224 65 L256 65' stroke='#1E4FA8' strokeWidth='2' /&gt;&#10;            &lt;path d='M248 58 L260 65 L248 72 Z' fill='#1E4FA8' /&gt;&#10;            {/* 阶段 2：模式层 */}&#10;            &lt;rect x='264' y='8' width='290' height='114' rx='4' fill='#E8EFF8' stroke='#1E4FA8' strokeWidth='1.5' /&gt;&#10;            &lt;text x='409' y='34' fill='#0E3F8C' fontSize='16' fontWeight='bold' textAnchor='middle'&gt;模式层 pickSpeaker&lt;/text&gt;&#10;            &lt;text x='409' y='58' fill='#1A2230' fontSize='12.5' textAnchor='middle'&gt;O(1) 查表定轮转骨架&lt;/text&gt;&#10;            &lt;text x='409' y='78' fill='#4A5568' fontSize='12' textAnchor='middle'&gt;comprehensive：[hr, tech, pressure]&lt;/text&gt;&#10;            &lt;text x='409' y='98' fill='#4A5568' fontSize='12' textAnchor='middle'&gt;tech 每 3 轮插 HR · pressure 每 4 轮插技术&lt;/text&gt;&#10;            {/* 箭头 2→3 */}&#10;            &lt;path d='M558 65 L590 65' stroke='#1E4FA8' strokeWidth='2' /&gt;&#10;            &lt;path d='M582 58 L594 65 L582 72 Z' fill='#1E4FA8' /&gt;&#10;            {/* 阶段 3：内容层 */}&#10;            &lt;rect x='598' y='8' width='290' height='114' rx='4' fill='#E8EFF8' stroke='#1E4FA8' strokeWidth='1.5' /&gt;&#10;            &lt;text x='743' y='34' fill='#0E3F8C' fontSize='16' fontWeight='bold' textAnchor='middle'&gt;内容层 planReason&lt;/text&gt;&#10;            &lt;text x='743' y='58' fill='#1A2230' fontSize='12.5' textAnchor='middle'&gt;按关键词 + 观察员标注派发&lt;/text&gt;&#10;            &lt;text x='743' y='78' fill='#4A5568' fontSize='12' textAnchor='middle'&gt;技术词命中 → 技术面试官深挖原理&lt;/text&gt;&#10;            &lt;text x='743' y='98' fill='#4A5568' fontSize='12' textAnchor='middle'&gt;结构完整缺量化 → 压力追问 · 否则 → HR&lt;/text&gt;&#10;            {/* 箭头 3→4 */}&#10;            &lt;path d='M892 65 L924 65' stroke='#1E4FA8' strokeWidth='2' /&gt;&#10;            &lt;path d='M916 58 L928 65 L916 72 Z' fill='#1E4FA8' /&gt;&#10;            {/* 阶段 4：实际发言者 */}&#10;            &lt;rect x='932' y='20' width='200' height='90' rx='4' fill='#FFFFFF' stroke='#1E4FA8' strokeWidth='1.5' /&gt;&#10;            &lt;text x='1032' y='52' fill='#0E3F8C' fontSize='16' fontWeight='bold' textAnchor='middle'&gt;实际发言者&lt;/text&gt;&#10;            &lt;text x='1032' y='78' fill='#4A5568' fontSize='12.5' textAnchor='middle'&gt;单一 Agent 发言&lt;/text&gt;&#10;            &lt;text x='1032' y='96' fill='#8B97A8' fontSize='12' textAnchor='middle'&gt;其余 Agent 静默观察&lt;/text&gt;&#10;            {/* 分流线：内容层 → 两个产出 */}&#10;            &lt;path d='M743 122 L743 150' stroke='#1E4FA8' strokeWidth='2' /&gt;&#10;            &lt;path d='M470 150 L1010 150' stroke='#1E4FA8' strokeWidth='2' /&gt;&#10;            &lt;path d='M470 150 L470 172' stroke='#1E4FA8' strokeWidth='2' /&gt;&#10;            &lt;path d='M1010 150 L1010 172' stroke='#1E4FA8' strokeWidth='2' /&gt;&#10;            &lt;path d='M462 164 L470 178 L478 164 Z' fill='#1E4FA8' /&gt;&#10;            &lt;path d='M1002 164 L1010 178 L1018 164 Z' fill='#1E4FA8' /&gt;&#10;            {/* 产出 1：决策留痕 */}&#10;            &lt;rect x='270' y='180' width='400' height='100' rx='4' fill='#FFFFFF' stroke='#1E4FA8' strokeWidth='1.5' /&gt;&#10;            &lt;text x='290' y='208' fill='#0E3F8C' fontSize='15' fontWeight='bold'&gt;产出 ① 决策留痕&lt;/text&gt;&#10;            &lt;text x='290' y='232' fill='#1A2230' fontSize='12.5'&gt;理由 + 置信度 min(95, 60 + turn×6)&lt;/text&gt;&#10;            &lt;text x='290' y='252' fill='#4A5568' fontSize='12' textAnchor='start'&gt;「技术关键词『Redis 缓存一致』+ 缺量化&lt;/text&gt;&#10;            &lt;text x='290' y='270' fill='#4A5568' fontSize='12'&gt;→ 技术面试官深挖原理（置信度 78%）」&lt;/text&gt;&#10;            {/* 产出 2：连环追问 */}&#10;            &lt;rect x='810' y='180' width='400' height='100' rx='4' fill='#FFFFFF' stroke='#1E4FA8' strokeWidth='1.5' /&gt;&#10;            &lt;text x='830' y='208' fill='#0E3F8C' fontSize='15' fontWeight='bold'&gt;产出 ② 连环追问状态机&lt;/text&gt;&#10;            &lt;text x='830' y='232' fill='#1A2230' fontSize='12.5'&gt;技术关键词 × 35% 概率触发&lt;/text&gt;&#10;            &lt;text x='830' y='252' fill='#4A5568' fontSize='12'&gt;锁定同一主题，连续深挖 2 轮，&lt;/text&gt;&#10;            &lt;text x='830' y='270' fill='#4A5568' fontSize='12'&gt;模拟真实技术面试官的追击&lt;/text&gt;&#10;        &lt;/svg&gt;&#10;    &lt;/Box&gt;&#10;    {/* ===== 下部：三张说明卡 ===== */}&#10;    &lt;Box style={{ position: 'absolute', top: 400, left: 0, width: '1280px', height: 256, padding: '0 40px', boxSizing: 'border-box', flexDirection: 'row', gap: 20 }}&gt;&#10;        &lt;Box style={{ flex: 1, background: '#F7F9FC', border: '1px solid #D6DCE5', borderTop: '3px solid #1E4FA8', padding: '16px 18px', boxSizing: 'border-box' }}&gt;&#10;            &lt;Text style={{ fontSize: 18, fontWeight: 'bold', color: '#0E3F8C' }}&gt;Agent 注册表：纯数据，双端共用&lt;/Text&gt;&#10;            &lt;Text style={{ fontSize: 14.5, color: '#4A5568', marginTop: 8, lineHeight: 1.65 }}&gt;&#10;                5 个 Agent 的人设与温度集中在 personas.ts 纯数据模块，无副作用，客户端与服务端安全共用——HR / 技术 / 压力面 / 观察员 / 教练，各自独立人设。&#10;            &lt;/Text&gt;&#10;        &lt;/Box&gt;&#10;        &lt;Box style={{ flex: 1, background: '#F7F9FC', border: '1px solid #D6DCE5', borderTop: '3px solid #1E4FA8', padding: '16px 18px', boxSizing: 'border-box' }}&gt;&#10;            &lt;Text style={{ fontSize: 18, fontWeight: 'bold', color: '#0E3F8C' }}&gt;可解释派发：不是黑箱换人&lt;/Text&gt;&#10;            &lt;Text style={{ fontSize: 14.5, color: '#4A5568', marginTop: 8, lineHeight: 1.65 }}&gt;&#10;                每次派发输出理由与置信度，写入面试间右侧时间线——Agent 的每一次「换人」都有据可查，这是决策过程的透明化，不是装饰。&#10;            &lt;/Text&gt;&#10;        &lt;/Box&gt;&#10;        &lt;Box style={{ flex: 1, background: '#F7F9FC', border: '1px solid #D6DCE5', borderTop: '3px solid #1E4FA8', padding: '16px 18px', boxSizing: 'border-box' }}&gt;&#10;            &lt;Text style={{ fontSize: 18, fontWeight: 'bold', color: '#0E3F8C' }}&gt;与固定轮转的本质差异&lt;/Text&gt;&#10;            &lt;Text style={{ fontSize: 14.5, color: '#4A5568', marginTop: 8, lineHeight: 1.65 }}&gt;&#10;                固定题库轮转是「套壳」的典型特征；两层调度 + 连环追问体现的是 Agent 根据上下文做连续决策的能力。&#10;            &lt;/Text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07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68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多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协作：两层调度，每次换人都有据可查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pic>
        <p:nvPicPr>
          <p:cNvPr id="4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000" y="990600"/>
            <a:ext cx="11430000" cy="2762250"/>
          </a:xfrm>
          <a:prstGeom prst="rect">
            <a:avLst/>
          </a:prstGeom>
          <a:ln/>
        </p:spPr>
      </p:pic>
      <p:sp>
        <p:nvSpPr>
          <p:cNvPr id="473" name=""/>
          <p:cNvSpPr/>
          <p:nvPr/>
        </p:nvSpPr>
        <p:spPr>
          <a:xfrm rot="0" flipH="0" flipV="0">
            <a:off x="381000" y="3838575"/>
            <a:ext cx="3686175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381000" y="3810000"/>
            <a:ext cx="3686175" cy="2466975"/>
          </a:xfrm>
          <a:custGeom>
            <a:pathLst>
              <a:path w="387" h="259">
                <a:moveTo>
                  <a:pt x="0" y="0"/>
                </a:moveTo>
                <a:lnTo>
                  <a:pt x="387" y="0"/>
                </a:lnTo>
                <a:lnTo>
                  <a:pt x="387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52450" y="3990975"/>
            <a:ext cx="3343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注册表：纯数据，双端共用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552450" y="4276725"/>
            <a:ext cx="33432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5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个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的人设与温度集中在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personas.ts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纯数据模块，无副作用，客户端与服务端安全共用——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HR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技术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压力面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观察员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教练，各自独立人设。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4257675" y="3838575"/>
            <a:ext cx="3676650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4257675" y="3810000"/>
            <a:ext cx="3676650" cy="2466975"/>
          </a:xfrm>
          <a:custGeom>
            <a:pathLst>
              <a:path w="386" h="259">
                <a:moveTo>
                  <a:pt x="0" y="0"/>
                </a:moveTo>
                <a:lnTo>
                  <a:pt x="386" y="0"/>
                </a:lnTo>
                <a:lnTo>
                  <a:pt x="386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429125" y="3990975"/>
            <a:ext cx="3333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可解释派发：不是黑箱换人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429125" y="4276725"/>
            <a:ext cx="33337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每次派发输出理由与置信度，写入面试间右侧时间线——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的每一次「换人」都有据可查，这是决策过程的透明化，不是装饰。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8124825" y="3838575"/>
            <a:ext cx="3686175" cy="2438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8124825" y="3810000"/>
            <a:ext cx="3686175" cy="2466975"/>
          </a:xfrm>
          <a:custGeom>
            <a:pathLst>
              <a:path w="387" h="259">
                <a:moveTo>
                  <a:pt x="0" y="0"/>
                </a:moveTo>
                <a:lnTo>
                  <a:pt x="387" y="0"/>
                </a:lnTo>
                <a:lnTo>
                  <a:pt x="387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8296275" y="3990975"/>
            <a:ext cx="3343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Noto Sans SC"/>
                <a:ea typeface="Noto Sans SC"/>
              </a:rPr>
              <a:t>与固定轮转的本质差异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296275" y="4276725"/>
            <a:ext cx="3343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固定题库轮转是「套壳」的典型特征；两层调度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连环追问体现的是</a:t>
            </a:r>
            <a:r>
              <a:rPr lang="en-US" sz="1088">
                <a:solidFill>
                  <a:srgbClr val="4A5568"/>
                </a:solidFill>
                <a:latin typeface="Noto Sans SC"/>
                <a:ea typeface="Noto Sans SC"/>
              </a:rPr>
              <a:t xml:space="preserve"> Agent </a:t>
            </a:r>
            <a:r>
              <a:rPr lang="zh-CN" sz="1088">
                <a:solidFill>
                  <a:srgbClr val="4A5568"/>
                </a:solidFill>
                <a:latin typeface="Noto Sans SC"/>
                <a:ea typeface="Noto Sans SC"/>
              </a:rPr>
              <a:t>根据上下文做连续决策的能力。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8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RAG：六阶段管线，每一阶段解决一个具体工程问题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左侧标题栏 ===== */}&#10;    &lt;Box style={{ position: 'absolute', top: 84, left: 0, width: 356, height: 572, background: '#0E3F8C', padding: '30px 32px 26px 40px', boxSizing: 'border-box', flexDirection: 'column' }}&gt;&#10;        &lt;Text style={{ fontSize: 14, color: '#9FB9E4', letterSpacing: 4 }}&gt;&#10;            RAG 检索策略&#10;        &lt;/Text&gt;&#10;        &lt;Text style={{ fontSize: 30, fontWeight: 'bold', color: '#FFFFFF', marginTop: 14, lineHeight: 1.35 }}&gt;&#10;            六阶段管线&#10;        &lt;/Text&gt;&#10;        &lt;Box style={{ width: 48, height: 4, background: '#FFC107', marginTop: 18 }} /&gt;&#10;        &lt;Text style={{ fontSize: 15, color: '#D7E3F5', lineHeight: 1.85, marginTop: 18 }}&gt;&#10;            选型全部由工程问题倒逼，不是教程默认值：中文无空格 → bigram；国内网络 → 四级权重源；结果不可解释 → 三阶段得分逐条展示。&#10;        &lt;/Text&gt;&#10;        &lt;Box style={{ flex: 1 }} /&gt;&#10;        &lt;Box style={{ background: '#1E4FA8', padding: '14px 16px' }}&gt;&#10;            &lt;Text style={{ fontSize: 15, fontWeight: 'bold', color: '#FFFFFF' }}&gt;&#10;                运行形态&#10;            &lt;/Text&gt;&#10;            &lt;Text style={{ fontSize: 14, color: '#D7E3F5', marginTop: 6, lineHeight: 1.6 }}&gt;&#10;                40 条合成面经&lt;br /&gt;全部浏览器内完成 · 零后端零 API&#10;            &lt;/Text&gt;&#10;        &lt;/Box&gt;&#10;    &lt;/Box&gt;&#10;    {/* ===== 右侧六阶段管线 ===== */}&#10;    &lt;Box style={{ position: 'absolute', top: 84, left: 356, width: 924, height: 572, padding: '20px 36px', boxSizing: 'border-box' }}&gt;&#10;        &lt;svg width={852} height='520' viewBox='0 0 852 520' style={{ fontFamily: &quot;'Noto Sans SC','PingFang SC','Microsoft YaHei',sans-serif&quot; }}&gt;&#10;            {/* 阶段 1 */}&#10;            &lt;rect x='0' y='4' width='852' height='76' rx='4' fill='#FFFFFF' stroke='#D6DCE5' strokeWidth='1.2' /&gt;&#10;            &lt;rect x='0' y='4' width='5' height='76' fill='#1E4FA8' /&gt;&#10;            &lt;rect x='20' y='22' width='40' height='40' rx='3' fill='#1E4FA8' /&gt;&#10;            &lt;text x='40' y='48' fill='#FFFFFF' fontSize='19' fontWeight='bold' textAnchor='middle'&gt;1&lt;/text&gt;&#10;            &lt;text x='80' y='47' fill='#0E3F8C' fontSize='17' fontWeight='bold'&gt;分词&lt;/text&gt;&#10;            &lt;text x='265' y='47' fill='#4A5568' fontSize='13.5'&gt;CJK bigram 切分，不接外部分词器——中文查询无空格&lt;/text&gt;&#10;            &lt;rect x='700' y='27' width='136' height='30' rx='3' fill='#E8EFF8' /&gt;&#10;            &lt;text x='768' y='47' fill='#1E4FA8' fontSize='12.5' fontWeight='bold' textAnchor='middle'&gt;中文无空格&lt;/text&gt;&#10;            {/* 阶段 2 */}&#10;            &lt;rect x='0' y='92' width='852' height='76' rx='4' fill='#FFFFFF' stroke='#D6DCE5' strokeWidth='1.2' /&gt;&#10;            &lt;rect x='0' y='92' width='5' height='76' fill='#1E4FA8' /&gt;&#10;            &lt;rect x='20' y='110' width='40' height='40' rx='3' fill='#1E4FA8' /&gt;&#10;            &lt;text x='40' y='136' fill='#FFFFFF' fontSize='19' fontWeight='bold' textAnchor='middle'&gt;2&lt;/text&gt;&#10;            &lt;text x='80' y='135' fill='#0E3F8C' fontSize='17' fontWeight='bold'&gt;BM25 词面通道&lt;/text&gt;&#10;            &lt;text x='265' y='135' fill='#4A5568' fontSize='13.5'&gt;k1=1.5 / b=0.75，标题重复计入 ×2，IDF 恒正&lt;/text&gt;&#10;            &lt;rect x='700' y='115' width='136' height='30' rx='3' fill='#E8EFF8' /&gt;&#10;            &lt;text x='768' y='135' fill='#1E4FA8' fontSize='12.5' fontWeight='bold' textAnchor='middle'&gt;精确命中&lt;/text&gt;&#10;            {/* 阶段 3 */}&#10;            &lt;rect x='0' y='180' width='852' height='76' rx='4' fill='#FFFFFF' stroke='#D6DCE5' strokeWidth='1.2' /&gt;&#10;            &lt;rect x='0' y='180' width='5' height='76' fill='#1E4FA8' /&gt;&#10;            &lt;rect x='20' y='198' width='40' height='40' rx='3' fill='#1E4FA8' /&gt;&#10;            &lt;text x='40' y='224' fill='#FFFFFF' fontSize='19' fontWeight='bold' textAnchor='middle'&gt;3&lt;/text&gt;&#10;            &lt;text x='80' y='223' fill='#0E3F8C' fontSize='17' fontWeight='bold'&gt;双向量通道&lt;/text&gt;&#10;            &lt;text x='265' y='223' fill='#4A5568' fontSize='13.5'&gt;MiniLM 384d 真实语义；hashing 256d 兜底，门槛抬高到 0.32&lt;/text&gt;&#10;            &lt;rect x='700' y='203' width='136' height='30' rx='3' fill='#E8EFF8' /&gt;&#10;            &lt;text x='768' y='223' fill='#1E4FA8' fontSize='12.5' fontWeight='bold' textAnchor='middle'&gt;语义泛化&lt;/text&gt;&#10;            {/* 阶段 4 */}&#10;            &lt;rect x='0' y='268' width='852' height='76' rx='4' fill='#FFFFFF' stroke='#D6DCE5' strokeWidth='1.2' /&gt;&#10;            &lt;rect x='0' y='268' width='5' height='76' fill='#1E4FA8' /&gt;&#10;            &lt;rect x='20' y='286' width='40' height='40' rx='3' fill='#1E4FA8' /&gt;&#10;            &lt;text x='40' y='312' fill='#FFFFFF' fontSize='19' fontWeight='bold' textAnchor='middle'&gt;4&lt;/text&gt;&#10;            &lt;text x='80' y='311' fill='#0E3F8C' fontSize='17' fontWeight='bold'&gt;加权融合&lt;/text&gt;&#10;            &lt;text x='265' y='311' fill='#4A5568' fontSize='13.5'&gt;0.6×cos + 0.4×bm25Norm，两路 min-max 归一后加权&lt;/text&gt;&#10;            &lt;rect x='700' y='291' width='136' height='30' rx='3' fill='#E8EFF8' /&gt;&#10;            &lt;text x='768' y='311' fill='#1E4FA8' fontSize='12.5' fontWeight='bold' textAnchor='middle'&gt;两路互补&lt;/text&gt;&#10;            {/* 阶段 5 */}&#10;            &lt;rect x='0' y='356' width='852' height='76' rx='4' fill='#F0F5FC' stroke='#1E4FA8' strokeWidth='1.5' /&gt;&#10;            &lt;rect x='0' y='356' width='5' height='76' fill='#0E3F8C' /&gt;&#10;            &lt;rect x='20' y='374' width='40' height='40' rx='3' fill='#0E3F8C' /&gt;&#10;            &lt;text x='40' y='400' fill='#FFFFFF' fontSize='19' fontWeight='bold' textAnchor='middle'&gt;5&lt;/text&gt;&#10;            &lt;text x='80' y='399' fill='#0E3F8C' fontSize='17' fontWeight='bold'&gt;五特征重排&lt;/text&gt;&#10;            &lt;text x='265' y='399' fill='#1A2230' fontSize='13.5'&gt;Top-8 候选池内精排：final = 0.55×hybridNorm + 0.45×featScore&lt;/text&gt;&#10;            &lt;rect x='700' y='379' width='136' height='30' rx='3' fill='#0E3F8C' /&gt;&#10;            &lt;text x='768' y='399' fill='#FFFFFF' fontSize='12.5' fontWeight='bold' textAnchor='middle'&gt;排序可解释&lt;/text&gt;&#10;            {/* 阶段 6 */}&#10;            &lt;rect x='0' y='444' width='852' height='76' rx='4' fill='#FFFFFF' stroke='#D6DCE5' strokeWidth='1.2' /&gt;&#10;            &lt;rect x='0' y='444' width='5' height='76' fill='#1E4FA8' /&gt;&#10;            &lt;rect x='20' y='462' width='40' height='40' rx='3' fill='#1E4FA8' /&gt;&#10;            &lt;text x='40' y='488' fill='#FFFFFF' fontSize='19' fontWeight='bold' textAnchor='middle'&gt;6&lt;/text&gt;&#10;            &lt;text x='80' y='487' fill='#0E3F8C' fontSize='17' fontWeight='bold'&gt;引用构建&lt;/text&gt;&#10;            &lt;text x='265' y='487' fill='#4A5568' fontSize='13.5'&gt;逐条附引用来源；资料不足明确说「暂无相关资料」&lt;/text&gt;&#10;            &lt;rect x='700' y='467' width='136' height='30' rx='3' fill='#E8EFF8' /&gt;&#10;            &lt;text x='768' y='487' fill='#1E4FA8' fontSize='12.5' fontWeight='bold' textAnchor='middle'&gt;答案可核对&lt;/text&gt;&#10;        &lt;/svg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08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491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657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>RAG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：六阶段管线，每一阶段解决一个具体工程问题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FB9E4"/>
                </a:solidFill>
                <a:latin typeface="Noto Sans SC"/>
                <a:ea typeface="Noto Sans SC"/>
              </a:rPr>
              <a:t xml:space="preserve">RAG </a:t>
            </a: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检索策略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0510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Noto Sans SC"/>
                <a:ea typeface="Noto Sans SC"/>
              </a:rPr>
              <a:t>六阶段管线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381000" y="2019300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381000" y="2228850"/>
            <a:ext cx="270510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选型全部由工程问题倒逼，不是教程默认值：中文无空格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bigram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；国内网络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四级权重源；结果不可解释</a:t>
            </a:r>
            <a:r>
              <a:rPr lang="en-US" sz="1125">
                <a:solidFill>
                  <a:srgbClr val="D7E3F5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三阶段得分逐条展示。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381000" y="4991100"/>
            <a:ext cx="270510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运行形态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40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条合成面经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全部浏览器内完成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零后端零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API</a:t>
            </a:r>
            <a:endParaRPr/>
          </a:p>
        </p:txBody>
      </p:sp>
      <p:pic>
        <p:nvPicPr>
          <p:cNvPr id="5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33800" y="990600"/>
            <a:ext cx="8115300" cy="4953000"/>
          </a:xfrm>
          <a:prstGeom prst="rect">
            <a:avLst/>
          </a:prstGeom>
          <a:ln/>
        </p:spPr>
      </p:pic>
      <p:sp>
        <p:nvSpPr>
          <p:cNvPr id="504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507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五特征重排：召回管「相关」，重排管「排序」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4px 40px', boxSizing: 'border-box', flexDirection: 'row', gap: 28 }}&gt;&#10;        {/* 左：公式与五特征权重 */}&#10;        &lt;Box style={{ width: 500, flexDirection: 'column' }}&gt;&#10;            &lt;Text style={{ fontSize: 16, fontWeight: 'bold', color: '#0E3F8C', letterSpacing: 1 }}&gt;&#10;                重排公式（巨型锚点）&#10;            &lt;/Text&gt;&#10;            &lt;Box style={{ background: '#0E3F8C', padding: '22px 24px', marginTop: 12 }}&gt;&#10;                &lt;Text style={{ fontSize: 23, fontWeight: 'bold', color: '#FFFFFF', lineHeight: 1.5 }}&gt;&#10;                    final = 0.55 × hybridNorm&lt;br /&gt;+ 0.45 × featScore&#10;                &lt;/Text&gt;&#10;                &lt;Text style={{ fontSize: 13, color: '#9FB9E4', marginTop: 10 }}&gt;&#10;                    Top-8 候选池召回后精排 · 权重和 = 1&#10;                &lt;/Text&gt;&#10;            &lt;/Box&gt;&#10;            &lt;Text style={{ fontSize: 16, fontWeight: 'bold', color: '#0E3F8C', marginTop: 22, letterSpacing: 1 }}&gt;&#10;                五特征与权重&#10;            &lt;/Text&gt;&#10;            &lt;Box style={{ flexDirection: 'column', gap: 14, marginTop: 14 }}&gt;&#10;                &lt;Box style={{ flexDirection: 'row', alignItems: 'center', gap: 10 }}&gt;&#10;                    &lt;Text style={{ width: 62, fontSize: 15, fontWeight: 'bold', color: '#1A2230' }}&gt;title&lt;/Text&gt;&#10;                    &lt;Text style={{ width: 148, fontSize: 12, color: '#4A5568' }}&gt;标题覆盖率&lt;/Text&gt;&#10;                    &lt;Box style={{ width: 190, height: 16, background: '#E8EFF8' }}&gt;&#10;                        &lt;Box style={{ width: 190, height: 16, background: '#1E4FA8' }} /&gt;&#10;                    &lt;/Box&gt;&#10;                    &lt;Text style={{ width: 36, fontSize: 15, fontWeight: 'bold', color: '#1E4FA8' }}&gt;0.34&lt;/Text&gt;&#10;                &lt;/Box&gt;&#10;                &lt;Box style={{ flexDirection: 'row', alignItems: 'center', gap: 10 }}&gt;&#10;                    &lt;Text style={{ width: 62, fontSize: 15, fontWeight: 'bold', color: '#1A2230' }}&gt;phrase&lt;/Text&gt;&#10;                    &lt;Text style={{ width: 148, fontSize: 12, color: '#4A5568' }}&gt;最长公共子串占比&lt;/Text&gt;&#10;                    &lt;Box style={{ width: 190, height: 16, background: '#E8EFF8' }}&gt;&#10;                        &lt;Box style={{ width: 134, height: 16, background: '#1E4FA8' }} /&gt;&#10;                    &lt;/Box&gt;&#10;                    &lt;Text style={{ width: 36, fontSize: 15, fontWeight: 'bold', color: '#1E4FA8' }}&gt;0.24&lt;/Text&gt;&#10;                &lt;/Box&gt;&#10;                &lt;Box style={{ flexDirection: 'row', alignItems: 'center', gap: 10 }}&gt;&#10;                    &lt;Text style={{ width: 62, fontSize: 15, fontWeight: 'bold', color: '#1A2230' }}&gt;tag&lt;/Text&gt;&#10;                    &lt;Text style={{ width: 148, fontSize: 12, color: '#4A5568' }}&gt;标签覆盖率&lt;/Text&gt;&#10;                    &lt;Box style={{ width: 190, height: 16, background: '#E8EFF8' }}&gt;&#10;                        &lt;Box style={{ width: 123, height: 16, background: '#1E4FA8' }} /&gt;&#10;                    &lt;/Box&gt;&#10;                    &lt;Text style={{ width: 36, fontSize: 15, fontWeight: 'bold', color: '#1E4FA8' }}&gt;0.22&lt;/Text&gt;&#10;                &lt;/Box&gt;&#10;                &lt;Box style={{ flexDirection: 'row', alignItems: 'center', gap: 10 }}&gt;&#10;                    &lt;Text style={{ width: 62, fontSize: 15, fontWeight: 'bold', color: '#1A2230' }}&gt;type&lt;/Text&gt;&#10;                    &lt;Text style={{ width: 148, fontSize: 12, color: '#4A5568' }}&gt;类型先验（面经最高）&lt;/Text&gt;&#10;                    &lt;Box style={{ width: 190, height: 16, background: '#E8EFF8' }}&gt;&#10;                        &lt;Box style={{ width: 67, height: 16, background: '#1E4FA8' }} /&gt;&#10;                    &lt;/Box&gt;&#10;                    &lt;Text style={{ width: 36, fontSize: 15, fontWeight: 'bold', color: '#1E4FA8' }}&gt;0.12&lt;/Text&gt;&#10;                &lt;/Box&gt;&#10;                &lt;Box style={{ flexDirection: 'row', alignItems: 'center', gap: 10 }}&gt;&#10;                    &lt;Text style={{ width: 62, fontSize: 15, fontWeight: 'bold', color: '#1A2230' }}&gt;len&lt;/Text&gt;&#10;                    &lt;Text style={{ width: 148, fontSize: 12, color: '#4A5568' }}&gt;长度先验（理想 170 字）&lt;/Text&gt;&#10;                    &lt;Box style={{ width: 190, height: 16, background: '#E8EFF8' }}&gt;&#10;                        &lt;Box style={{ width: 45, height: 16, background: '#1E4FA8' }} /&gt;&#10;                    &lt;/Box&gt;&#10;                    &lt;Text style={{ width: 36, fontSize: 15, fontWeight: 'bold', color: '#1E4FA8' }}&gt;0.08&lt;/Text&gt;&#10;                &lt;/Box&gt;&#10;            &lt;/Box&gt;&#10;            &lt;Box style={{ flex: 1 }} /&gt;&#10;            &lt;Box style={{ background: '#F7F9FC', border: '1px solid #D6DCE5', padding: '12px 16px' }}&gt;&#10;                &lt;Text style={{ fontSize: 13.5, color: '#4A5568', lineHeight: 1.6 }}&gt;&#10;                    phrase 用 LCS 计算（标题 ×1.0，正文 ×0.6）——完整短语 = 强意图信号。&#10;                &lt;/Text&gt;&#10;            &lt;/Box&gt;&#10;        &lt;/Box&gt;&#10;        {/* 右：真实效果表 + 为什么不用 LLM rerank */}&#10;        &lt;Box style={{ flex: 1, flexDirection: 'column' }}&gt;&#10;            &lt;Text style={{ fontSize: 16, fontWeight: 'bold', color: '#0E3F8C', letterSpacing: 1 }}&gt;&#10;                重排真实效果（线上知识库实测）&#10;            &lt;/Text&gt;&#10;            &lt;Box style={{ marginTop: 12, height: 236 }}&gt;&#10;                &lt;Table&#10;                    style={{ width: '100%', height: 236 }}&#10;                    defaultTextStyle={{ fontSize: 13, textAlign: 'center', color: '#1A2230' }}&#10;                    defaultCellStyle={{&#10;                        border: {&#10;                            left: { width: 1, color: '#D6DCE5' },&#10;                            right: { width: 1, color: '#D6DCE5' },&#10;                            top: { width: 1, color: '#D6DCE5' },&#10;                            bottom: { width: 1, color: '#D6DCE5' },&#10;                        },&#10;                    }}&#10;                    cells={[&#10;                        [&#10;                            { text: '查询', textStyle: { bold: true, color: '#FFFFFF' }, cellStyle: { background: { color: '#0E3F8C' } } },&#10;                            { text: '混合召回 Top-3', textStyle: { bold: true, color: '#FFFFFF' }, cellStyle: { background: { color: '#0E3F8C' } } },&#10;                            { text: '重排后 Top-3（变化）', textStyle: { bold: true, color: '#FFFFFF' }, cellStyle: { background: { color: '#0E3F8C' } } },&#10;                        ],&#10;                        [&#10;                            { text: 'MySQL 索引', textStyle: { bold: true, color: '#0E3F8C' } },&#10;                            { text: 'B+ 树 / 后端 JD / 事务隔离级别', cellStyle: { background: { color: '#FFFFFF' } } },&#10;                            { text: 'B+ 树 / 事务隔离 ↑ / 后端 JD ↓', cellStyle: { background: { color: '#F0F5FC' } } },&#10;                        ],&#10;                        [&#10;                            { text: 'Redis 持久化', textStyle: { bold: true, color: '#0E3F8C' }, cellStyle: { background: { color: '#F7F9FC' } } },&#10;                            { text: 'RDB 与 AOF / 分布式锁 / 缓存三兄弟', cellStyle: { background: { color: '#F7F9FC' } } },&#10;                            { text: 'RDB 与 AOF / 缓存三兄弟 ↑ / 分布式锁 ↓', cellStyle: { background: { color: '#F0F5FC' } } },&#10;                        ],&#10;                        [&#10;                            { text: '后端 开发 工程师', textStyle: { bold: true, color: '#0E3F8C' } },&#10;                            { text: '后端 JD / AI 求职趋势 / 腾讯一面' },&#10;                            { text: '后端 JD / 腾讯一面 ↑ / 字节二面 ↑ / AI 趋势 ↓', cellStyle: { background: { color: '#F0F5FC' } } },&#10;                        ],&#10;                    ]}&#10;                /&gt;&#10;            &lt;/Box&gt;&#10;            &lt;Text style={{ fontSize: 13, color: '#8B97A8', marginTop: 8 }}&gt;&#10;                ↑ 重排提升 · ↓ 重排压下；「后端 JD」标题零命中，phrase 0.60 也救不回&#10;            &lt;/Text&gt;&#10;            &lt;Box style={{ background: '#F7F9FC', border: '1px solid #D6DCE5', borderLeft: '4px solid #0E3F8C', padding: '16px 18px', marginTop: 16, flex: 1 }}&gt;&#10;                &lt;Text style={{ fontSize: 16, fontWeight: 'bold', color: '#0E3F8C' }}&gt;&#10;                    为什么不用 LLM rerank&#10;                &lt;/Text&gt;&#10;                &lt;Box style={{ flexDirection: 'row', gap: 10, marginTop: 10 }}&gt;&#10;                    &lt;Box style={{ background: '#E8EFF8', padding: '5px 12px' }}&gt;&#10;                        &lt;Text style={{ fontSize: 13, color: '#1E4FA8', fontWeight: 'bold' }}&gt;延迟&lt;/Text&gt;&#10;                    &lt;/Box&gt;&#10;                    &lt;Box style={{ background: '#E8EFF8', padding: '5px 12px' }}&gt;&#10;                        &lt;Text style={{ fontSize: 13, color: '#1E4FA8', fontWeight: 'bold' }}&gt;成本&lt;/Text&gt;&#10;                    &lt;/Box&gt;&#10;                    &lt;Box style={{ background: '#E8EFF8', padding: '5px 12px' }}&gt;&#10;                        &lt;Text style={{ fontSize: 13, color: '#1E4FA8', fontWeight: 'bold' }}&gt;确定性&lt;/Text&gt;&#10;                    &lt;/Box&gt;&#10;                &lt;/Box&gt;&#10;                &lt;Text style={{ fontSize: 14, color: '#4A5568', marginTop: 10, lineHeight: 1.65 }}&gt;&#10;                    规则重排对同一查询永远给出同一结果，特征分可逐项展示给用户核对；LLM 重排三者皆无。40 条规模的知识库，规则重排的区分度已经够用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09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510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五特征重排：召回管「相关」，重排管「排序」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重排公式（巨型锚点）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81000" y="1333500"/>
            <a:ext cx="4762500" cy="14573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4305300" cy="7905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 b="1">
                <a:solidFill>
                  <a:srgbClr val="FFFFFF"/>
                </a:solidFill>
                <a:latin typeface="Noto Sans SC"/>
                <a:ea typeface="Noto Sans SC"/>
              </a:rPr>
              <a:t>final = 0.55 × hybridNorm</a:t>
            </a:r>
            <a:endParaRPr/>
          </a:p>
          <a:p>
            <a:pPr>
              <a:lnSpc>
                <a:spcPct val="150000"/>
              </a:lnSpc>
            </a:pPr>
            <a:r>
              <a:rPr lang="en-US" sz="1725" b="1">
                <a:solidFill>
                  <a:srgbClr val="FFFFFF"/>
                </a:solidFill>
                <a:latin typeface="Noto Sans SC"/>
                <a:ea typeface="Noto Sans SC"/>
              </a:rPr>
              <a:t>+ 0.45 × featScore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430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Top-8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候选池召回后精排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权重和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= 1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381000" y="3000375"/>
            <a:ext cx="476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五特征与权重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381000" y="33242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title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066800" y="33432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标题覆盖率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2571750" y="33337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2571750" y="3333750"/>
            <a:ext cx="180975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476750" y="33242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0.34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381000" y="36290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phrase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066800" y="36480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最长公共子串占比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2571750" y="36385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2571750" y="3638550"/>
            <a:ext cx="127635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476750" y="36290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0.24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81000" y="39338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tag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66800" y="39528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标签覆盖率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2571750" y="39433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2571750" y="3943350"/>
            <a:ext cx="117157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476750" y="39338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0.22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381000" y="42386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type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66800" y="42576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类型先验（面经最高）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2571750" y="42481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2571750" y="4248150"/>
            <a:ext cx="63817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4476750" y="42386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0.12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4543425"/>
            <a:ext cx="590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Noto Sans SC"/>
                <a:ea typeface="Noto Sans SC"/>
              </a:rPr>
              <a:t>len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66800" y="4562475"/>
            <a:ext cx="1409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长度先验（理想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170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字）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2571750" y="4552950"/>
            <a:ext cx="1809750" cy="1524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2571750" y="4552950"/>
            <a:ext cx="428625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4476750" y="45434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>0.08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381000" y="5543550"/>
            <a:ext cx="4762500" cy="476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3400" y="56578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phrase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用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LCS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计算（标题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×1.0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，正文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×0.6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）——完整短语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=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强意图信号。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410200" y="1028700"/>
            <a:ext cx="640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重排真实效果（线上知识库实测）</a:t>
            </a:r>
            <a:endParaRPr/>
          </a:p>
        </p:txBody>
      </p:sp>
      <p:graphicFrame>
        <p:nvGraphicFramePr>
          <p:cNvPr id="547" name=""/>
          <p:cNvGraphicFramePr/>
          <p:nvPr/>
        </p:nvGraphicFramePr>
        <p:xfrm rot="0" flipH="0" flipV="0">
          <a:off x="5410200" y="1333500"/>
          <a:ext cx="6400800" cy="2247900"/>
        </p:xfrm>
        <a:graphic>
          <a:graphicData uri="http://schemas.openxmlformats.org/drawingml/2006/table">
            <a:tbl>
              <a:tblGrid>
                <a:gridCol w="1141798">
                  <a:extLst>
                    <a:ext uri="{9D8B030D-6E8A-4147-A177-3AD203B41FA5}">
                      <a16:colId val="1"/>
                    </a:ext>
                  </a:extLst>
                </a:gridCol>
                <a:gridCol w="2392940">
                  <a:extLst>
                    <a:ext uri="{9D8B030D-6E8A-4147-A177-3AD203B41FA5}">
                      <a16:colId val="2"/>
                    </a:ext>
                  </a:extLst>
                </a:gridCol>
                <a:gridCol w="286606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查询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混合召回 Top-3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重排后 Top-3（变化）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MySQL 索引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B+ 树 / 后端 JD / 事务隔离级别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B+ 树 / 事务隔离 ↑ / 后端 JD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Redis 持久化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RDB 与 AOF / 分布式锁 / 缓存三兄弟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RDB 与 AOF / 缓存三兄弟 ↑ / 分布式锁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619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后端 开发 工程师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后端 JD / AI 求职趋势 / 腾讯一面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后端 JD / 腾讯一面 ↑ / 字节二面 ↑ / AI 趋势 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</a:tbl>
          </a:graphicData>
        </a:graphic>
      </p:graphicFrame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5410200" y="3657600"/>
            <a:ext cx="640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↑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重排提升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· ↓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重排压下；「后端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JD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」标题零命中，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phrase 0.60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也救不回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5448300" y="3962400"/>
            <a:ext cx="6400800" cy="20574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5410200" y="3962400"/>
            <a:ext cx="6438900" cy="2057400"/>
          </a:xfrm>
          <a:custGeom>
            <a:pathLst>
              <a:path w="676" h="216">
                <a:moveTo>
                  <a:pt x="0" y="0"/>
                </a:moveTo>
                <a:lnTo>
                  <a:pt x="4" y="0"/>
                </a:lnTo>
                <a:lnTo>
                  <a:pt x="4" y="216"/>
                </a:lnTo>
                <a:lnTo>
                  <a:pt x="0" y="216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5619750" y="4114800"/>
            <a:ext cx="601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为什么不用</a:t>
            </a:r>
            <a:r>
              <a:rPr lang="en-US" sz="1200" b="1">
                <a:solidFill>
                  <a:srgbClr val="0E3F8C"/>
                </a:solidFill>
                <a:latin typeface="Noto Sans SC"/>
                <a:ea typeface="Noto Sans SC"/>
              </a:rPr>
              <a:t xml:space="preserve"> LLM rerank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5619750" y="4400550"/>
            <a:ext cx="476250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734050" y="4448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延迟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191250" y="4400550"/>
            <a:ext cx="476250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305550" y="4448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成本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762750" y="4400550"/>
            <a:ext cx="600075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877050" y="44481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Noto Sans SC"/>
                <a:ea typeface="Noto Sans SC"/>
              </a:rPr>
              <a:t>确定性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619750" y="4743450"/>
            <a:ext cx="6019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规则重排对同一查询永远给出同一结果，特征分可逐项展示给用户核对；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LLM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重排三者皆无。</a:t>
            </a:r>
            <a:r>
              <a:rPr lang="en-US" sz="1050">
                <a:solidFill>
                  <a:srgbClr val="4A5568"/>
                </a:solidFill>
                <a:latin typeface="Noto Sans SC"/>
                <a:ea typeface="Noto Sans SC"/>
              </a:rPr>
              <a:t xml:space="preserve">40 </a:t>
            </a:r>
            <a:r>
              <a:rPr lang="zh-CN" sz="1050">
                <a:solidFill>
                  <a:srgbClr val="4A5568"/>
                </a:solidFill>
                <a:latin typeface="Noto Sans SC"/>
                <a:ea typeface="Noto Sans SC"/>
              </a:rPr>
              <a:t>条规模的知识库，规则重排的区分度已经够用。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3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评分引擎：五个维度，全部可机械判定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4px 40px', boxSizing: 'border-box', flexDirection: 'row', gap: 28 }}&gt;&#10;        {/* 左 60%：五维信号表 */}&#10;        &lt;Box style={{ width: 700, flexDirection: 'column' }}&gt;&#10;            &lt;Text style={{ fontSize: 16, fontWeight: 'bold', color: '#0E3F8C', letterSpacing: 1 }}&gt;&#10;                五维信号设计（权重 + 可机械判定的信号 + 满分条件）&#10;            &lt;/Text&gt;&#10;            &lt;Box style={{ marginTop: 12, height: 396 }}&gt;&#10;                &lt;Table&#10;                    style={{ width: '100%', height: 396 }}&#10;                    defaultTextStyle={{ fontSize: 12.5, textAlign: 'center', color: '#1A2230' }}&#10;                    defaultCellStyle={{&#10;                        border: {&#10;                            left: { width: 1, color: '#D6DCE5' },&#10;                            right: { width: 1, color: '#D6DCE5' },&#10;                            top: { width: 1, color: '#D6DCE5' },&#10;                            bottom: { width: 1, color: '#D6DCE5' },&#10;                        },&#10;                    }}&#10;                    cells={[&#10;                        [&#10;                            { text: '维度', textStyle: { bold: true, color: '#FFFFFF' }, cellStyle: { background: { color: '#0E3F8C' } } },&#10;                            { text: '权重', textStyle: { bold: true, color: '#FFFFFF' }, cellStyle: { background: { color: '#0E3F8C' } } },&#10;                            { text: '评分信号（可机械判定）', textStyle: { bold: true, color: '#FFFFFF' }, cellStyle: { background: { color: '#0E3F8C' } } },&#10;                            { text: '满分条件', textStyle: { bold: true, color: '#FFFFFF' }, cellStyle: { background: { color: '#0E3F8C' } } },&#10;                        ],&#10;                        [&#10;                            { text: '内容深度', textStyle: { bold: true, color: '#0E3F8C' } },&#10;                            { text: '25%' },&#10;                            { text: '数字个数 ×2.2（上限 22）、技术词命中 ×2.5（上限 18）、轮次 ≥4 +8、代码沙盒通过率融合' },&#10;                            { text: '4+ 量化且 3+ 技术词' },&#10;                        ],&#10;                        [&#10;                            { text: '结构逻辑', textStyle: { bold: true, color: '#0E3F8C' }, cellStyle: { background: { color: '#F7F9FC' } } },&#10;                            { text: '20%', cellStyle: { background: { color: '#F7F9FC' } } },&#10;                            { text: 'STAR 词命中（背景/目标/负责/通过/最终/结果/因此/于是）×4 上限 30', cellStyle: { background: { color: '#F7F9FC' } } },&#10;                            { text: '命中 3+', cellStyle: { background: { color: '#F7F9FC' } } },&#10;                        ],&#10;                        [&#10;                            { text: '语言表达', textStyle: { bold: true, color: '#0E3F8C' } },&#10;                            { text: '15%' },&#10;                            { text: '口头禅（然后/那个/就是）×5 上限 24、短答数（&lt;40 字）×4' },&#10;                            { text: '口头禅 ≤2 且无短答' },&#10;                        ],&#10;                        [&#10;                            { text: '岗位匹配', textStyle: { bold: true, color: '#0E3F8C' }, cellStyle: { background: { color: '#F7F9FC' } } },&#10;                            { text: '20%', cellStyle: { background: { color: '#F7F9FC' } } },&#10;                            { text: '匹配报告分 ×0.4 + 技术词命中（上限 10）；无报告时按技能命中估算', cellStyle: { background: { color: '#F7F9FC' } } },&#10;                            { text: '匹配分高 + 缺口少', cellStyle: { background: { color: '#F7F9FC' } } },&#10;                        ],&#10;                        [&#10;                            { text: '抗压表现', textStyle: { bold: true, color: '#0E3F8C' } },&#10;                            { text: '20%' },&#10;                            { text: '防御性表述（不是我的/跟我没关系/但是/我没有）×6 上限 20；压力轮短答 ×3 上限 12' },&#10;                            { text: '无防御性表述' },&#10;                        ],&#10;                    ]}&#10;                /&gt;&#10;            &lt;/Box&gt;&#10;            &lt;Text style={{ fontSize: 13, color: '#8B97A8', marginTop: 10, lineHeight: 1.6 }}&gt;&#10;                信号不是拍脑袋：量化数据（STAR 的 Result 可验证化）、STAR 结构词、口头禅密度、防御性表述，分别对应面试评估中内容、结构、表达、抗压四类公认维度。&#10;            &lt;/Text&gt;&#10;        &lt;/Box&gt;&#10;        {/* 右 40%：设计目标与边界 */}&#10;        &lt;Box style={{ flex: 1, flexDirection: 'column' }}&gt;&#10;            &lt;Text style={{ fontSize: 16, fontWeight: 'bold', color: '#0E3F8C', letterSpacing: 1 }}&gt;&#10;                评分引擎要回答的四个问题&#10;            &lt;/Text&gt;&#10;            &lt;Box style={{ flexDirection: 'column', gap: 10, marginTop: 12 }}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①&lt;/Text&gt;&#10;                    &lt;Text style={{ fontSize: 14, color: '#1A2230', lineHeight: 1.5 }}&gt;&#10;                        &lt;span style={{ fontWeight: 'bold' }}&gt;可解释&lt;/span&gt;——每个分数能追溯到对话原话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②&lt;/Text&gt;&#10;                    &lt;Text style={{ fontSize: 14, color: '#1A2230', lineHeight: 1.5 }}&gt;&#10;                        &lt;span style={{ fontWeight: 'bold' }}&gt;可复现&lt;/span&gt;——同一输入永远同一输出，不靠模型运气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③&lt;/Text&gt;&#10;                    &lt;Text style={{ fontSize: 14, color: '#1A2230', lineHeight: 1.5 }}&gt;&#10;                        &lt;span style={{ fontWeight: 'bold' }}&gt;双引擎同构&lt;/span&gt;——前端本地引擎与服务端逐位一致，支撑三级降级&#10;                    &lt;/Text&gt;&#10;                &lt;/Box&gt;&#10;                &lt;Box style={{ background: '#F7F9FC', border: '1px solid #D6DCE5', padding: '10px 14px', flexDirection: 'row', alignItems: 'center', gap: 12 }}&gt;&#10;                    &lt;Text style={{ fontSize: 17, fontWeight: 'bold', color: '#1E4FA8', width: 26 }}&gt;④&lt;/Text&gt;&#10;                    &lt;Text style={{ fontSize: 14, color: '#1A2230', lineHeight: 1.5 }}&gt;&#10;                        &lt;span style={{ fontWeight: 'bold' }}&gt;对匹配报告开放&lt;/span&gt;——匹配分作为先验进入拟合维度，而非另起一套&#10;                    &lt;/Text&gt;&#10;                &lt;/Box&gt;&#10;            &lt;/Box&gt;&#10;            &lt;Box style={{ background: '#E8EFF8', padding: '14px 16px', marginTop: 16 }}&gt;&#10;                &lt;Text style={{ fontSize: 15, fontWeight: 'bold', color: '#0E3F8C' }}&gt;&#10;                    边界裁剪 [30, 96]&#10;                &lt;/Text&gt;&#10;                &lt;Text style={{ fontSize: 13.5, color: '#4A5568', marginTop: 6, lineHeight: 1.65 }}&gt;&#10;                    下限 30：再差的回答也有保底，避免「零分挫败」吓退用户；上限 96：不留满分，保留「还能更好」的成长空间。总分 = 五维均值。&#10;                &lt;/Text&gt;&#10;            &lt;/Box&gt;&#10;            &lt;Box style={{ flex: 1 }} /&gt;&#10;            &lt;Box style={{ background: '#0E3F8C', padding: '14px 16px' }}&gt;&#10;                &lt;Text style={{ fontSize: 14.5, color: '#FFFFFF', lineHeight: 1.65, fontWeight: 'bold' }}&gt;&#10;                    规则引擎（而非让 LLM 直接打分），是同时满足四者的唯一选择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10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210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评分引擎：五个维度，全部可机械判定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102870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五维信号设计（权重</a:t>
            </a:r>
            <a:r>
              <a:rPr lang="en-US" sz="1200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可机械判定的信号</a:t>
            </a:r>
            <a:r>
              <a:rPr lang="en-US" sz="1200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满分条件）</a:t>
            </a:r>
            <a:endParaRPr/>
          </a:p>
        </p:txBody>
      </p:sp>
      <p:graphicFrame>
        <p:nvGraphicFramePr>
          <p:cNvPr id="41" name=""/>
          <p:cNvGraphicFramePr/>
          <p:nvPr/>
        </p:nvGraphicFramePr>
        <p:xfrm rot="0" flipH="0" flipV="0">
          <a:off x="381000" y="1333500"/>
          <a:ext cx="6667500" cy="3771900"/>
        </p:xfrm>
        <a:graphic>
          <a:graphicData uri="http://schemas.openxmlformats.org/drawingml/2006/table">
            <a:tbl>
              <a:tblGrid>
                <a:gridCol w="521911">
                  <a:extLst>
                    <a:ext uri="{9D8B030D-6E8A-4147-A177-3AD203B41FA5}">
                      <a16:colId val="1"/>
                    </a:ext>
                  </a:extLst>
                </a:gridCol>
                <a:gridCol w="311745">
                  <a:extLst>
                    <a:ext uri="{9D8B030D-6E8A-4147-A177-3AD203B41FA5}">
                      <a16:colId val="2"/>
                    </a:ext>
                  </a:extLst>
                </a:gridCol>
                <a:gridCol w="4698950">
                  <a:extLst>
                    <a:ext uri="{9D8B030D-6E8A-4147-A177-3AD203B41FA5}">
                      <a16:colId val="3"/>
                    </a:ext>
                  </a:extLst>
                </a:gridCol>
                <a:gridCol w="1134894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权重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评分信号（可机械判定）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满分条件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内容深度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数字个数 ×2.2（上限 22）、技术词命中 ×2.5（上限 18）、轮次 ≥4 +8、代码沙盒通过率融合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4+ 量化且 3+ 技术词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结构逻辑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STAR 词命中（背景/目标/负责/通过/最终/结果/因此/于是）×4 上限 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命中 3+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语言表达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口头禅（然后/那个/就是）×5 上限 24、短答数（&lt;40 字）×4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口头禅 ≤2 且无短答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岗位匹配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匹配报告分 ×0.4 + 技术词命中（上限 10）；无报告时按技能命中估算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匹配分高 + 缺口少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286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抗压表现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防御性表述（不是我的/跟我没关系/但是/我没有）×6 上限 20；压力轮短答 ×3 上限 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3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无防御性表述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5200650"/>
            <a:ext cx="6667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信号不是拍脑袋：量化数据（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的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Result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可验证化）、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结构词、口头禅密度、防御性表述，分别对应面试评估中内容、结构、表达、抗压四类公认维度。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315200" y="1028700"/>
            <a:ext cx="449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评分引擎要回答的四个问题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315200" y="13335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448550" y="14573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①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0" y="1428750"/>
            <a:ext cx="2228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可解释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——每个分数能追溯到对话原话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315200" y="18669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48550" y="19907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②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0" y="19621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可复现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——同一输入永远同一输出，不靠模型运气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315200" y="24003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448550" y="25241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③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10500" y="2495550"/>
            <a:ext cx="3695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双引擎同构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——前端本地引擎与服务端逐位一致，支撑三级降级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315200" y="2933700"/>
            <a:ext cx="4495800" cy="4381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48550" y="30575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1E4FA8"/>
                </a:solidFill>
                <a:latin typeface="Noto Sans SC"/>
                <a:ea typeface="Noto Sans SC"/>
              </a:rPr>
              <a:t>④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810500" y="3028950"/>
            <a:ext cx="3829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 b="1">
                <a:solidFill>
                  <a:srgbClr val="1A2230"/>
                </a:solidFill>
                <a:latin typeface="Noto Sans SC"/>
                <a:ea typeface="Noto Sans SC"/>
              </a:rPr>
              <a:t>对匹配报告开放</a:t>
            </a:r>
            <a:r>
              <a:rPr lang="zh-CN" sz="1050">
                <a:solidFill>
                  <a:srgbClr val="1A2230"/>
                </a:solidFill>
                <a:latin typeface="Noto Sans SC"/>
                <a:ea typeface="Noto Sans SC"/>
              </a:rPr>
              <a:t>——匹配分作为先验进入拟合维度，而非另起一套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315200" y="3524250"/>
            <a:ext cx="4495800" cy="1009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67600" y="36576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边界裁剪</a:t>
            </a: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 xml:space="preserve"> [30, 96]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67600" y="3886200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下限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30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：再差的回答也有保底，避免「零分挫败」吓退用户；上限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96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：不留满分，保留「还能更好」的成长空间。总分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=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五维均值。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315200" y="5476875"/>
            <a:ext cx="4495800" cy="5429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467600" y="561022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88" b="1">
                <a:solidFill>
                  <a:srgbClr val="FFFFFF"/>
                </a:solidFill>
                <a:latin typeface="Noto Sans SC"/>
                <a:ea typeface="Noto Sans SC"/>
              </a:rPr>
              <a:t>规则引擎（而非让</a:t>
            </a:r>
            <a:r>
              <a:rPr lang="en-US" sz="1088" b="1">
                <a:solidFill>
                  <a:srgbClr val="FFFFFF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088" b="1">
                <a:solidFill>
                  <a:srgbClr val="FFFFFF"/>
                </a:solidFill>
                <a:latin typeface="Noto Sans SC"/>
                <a:ea typeface="Noto Sans SC"/>
              </a:rPr>
              <a:t>直接打分），是同时满足四者的唯一选择。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64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校准：双引擎对拍，发现一次真实舍入缺陷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2 原创性论证&#10;            &lt;/Text&gt;&#10;        &lt;/Box&gt;&#10;    &lt;/Box&gt;&#10;    {/* ===== 内容区 ===== */}&#10;    &lt;Box style={{ position: 'absolute', top: 84, left: 0, width: '1280px', height: 572, padding: '22px 40px', boxSizing: 'border-box', flexDirection: 'row', gap: 28 }}&gt;&#10;        {/* 左 55%：校准总分图 + 四步校准 */}&#10;        &lt;Box style={{ width: 648, flexDirection: 'column' }}&gt;&#10;            &lt;Text style={{ fontSize: 16, fontWeight: 'bold', color: '#0E3F8C', letterSpacing: 1 }}&gt;&#10;                五个标准样本的总分（双引擎一致输出）&#10;            &lt;/Text&gt;&#10;            &lt;Chart&#10;                style={{ height: 268, marginTop: 10 }}&#10;                chartType='barChart'&#10;                colors={['#1E4FA8']}&#10;                background='#FFFFFF'&#10;                showLegend={false}&#10;                showDataLabels={true}&#10;                dataLabelColor='#0E3F8C'&#10;                axisColor='#4A5568'&#10;                data={[&#10;                    ['样本', '总分'],&#10;                    ['C3 短答', 55],&#10;                    ['C4 防御', 56],&#10;                    ['C2 缺量化', 64],&#10;                    ['C1 强答', 77],&#10;                    ['C5 匹配', 82],&#10;                ]}&#10;            /&gt;&#10;            &lt;Text style={{ fontSize: 13, color: '#8B97A8', marginTop: 4 }}&gt;&#10;                总分单调：55 → 56 → 64 → 77 → 82——答题质量提升，总分必须提升（不变量之一）&#10;            &lt;/Text&gt;&#10;            &lt;Box style={{ flexDirection: 'row', gap: 12, marginTop: 16 }}&gt;&#10;                &lt;Box style={{ flex: 1, background: '#F7F9FC', border: '1px solid #D6DCE5', padding: '10px 12px' }}&gt;&#10;                    &lt;Text style={{ fontSize: 15, fontWeight: 'bold', color: '#1E4FA8' }}&gt;① 规则来源&lt;/Text&gt;&#10;                    &lt;Text style={{ fontSize: 12.5, color: '#4A5568', marginTop: 4, lineHeight: 1.5 }}&gt;&#10;                        信号对应面试评估公认维度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② 双引擎对拍&lt;/Text&gt;&#10;                    &lt;Text style={{ fontSize: 12.5, color: '#4A5568', marginTop: 4, lineHeight: 1.5 }}&gt;&#10;                        Python 与 JS 共用 5 个标准样本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③ 缺陷修复&lt;/Text&gt;&#10;                    &lt;Text style={{ fontSize: 12.5, color: '#4A5568', marginTop: 4, lineHeight: 1.5 }}&gt;&#10;                        对拍首跑发现舍入分歧&#10;                    &lt;/Text&gt;&#10;                &lt;/Box&gt;&#10;                &lt;Box style={{ flex: 1, background: '#F7F9FC', border: '1px solid #D6DCE5', padding: '10px 12px' }}&gt;&#10;                    &lt;Text style={{ fontSize: 15, fontWeight: 'bold', color: '#1E4FA8' }}&gt;④ 不变量固化&lt;/Text&gt;&#10;                    &lt;Text style={{ fontSize: 12.5, color: '#4A5568', marginTop: 4, lineHeight: 1.5 }}&gt;&#10;                        11 条断言常驻回归&#10;                    &lt;/Text&gt;&#10;                &lt;/Box&gt;&#10;            &lt;/Box&gt;&#10;        &lt;/Box&gt;&#10;        {/* 右 45%：舍入缺陷 + 区分度 */}&#10;        &lt;Box style={{ flex: 1, flexDirection: 'column' }}&gt;&#10;            &lt;Box style={{ background: '#FFFFFF', border: '1px solid #D6DCE5', borderLeft: '4px solid #D9534F', padding: '14px 18px' }}&gt;&#10;                &lt;Text style={{ fontSize: 16, fontWeight: 'bold', color: '#0E3F8C' }}&gt;&#10;                    对拍发现的真实缺陷（锚点数字）&#10;                &lt;/Text&gt;&#10;                &lt;Box style={{ flexDirection: 'row', alignItems: 'baseline', gap: 12, marginTop: 8 }}&gt;&#10;                    &lt;Text style={{ fontSize: 52, fontWeight: 'bold', color: '#D9534F', lineHeight: 1 }}&gt;&#10;                        90.5&#10;                    &lt;/Text&gt;&#10;                    &lt;Text style={{ fontSize: 26, fontWeight: 'bold', color: '#4A5568' }}&gt;&#10;                        →&#10;                    &lt;/Text&gt;&#10;                    &lt;Text style={{ fontSize: 52, fontWeight: 'bold', color: '#1E4FA8', lineHeight: 1 }}&gt;&#10;                        91&#10;                    &lt;/Text&gt;&#10;                &lt;/Box&gt;&#10;                &lt;Text style={{ fontSize: 13.5, color: '#4A5568', marginTop: 10, lineHeight: 1.65 }}&gt;&#10;                    真值 48 + 22 + 5×2.5 + 8 = 90.5 恰在 .5 边界：Python &lt;span style={{ fontFamily: &quot;'Times New Roman',serif&quot; }}&gt;round()&lt;/span&gt; 银行家舍入得 90，JS &lt;span style={{ fontFamily: &quot;'Times New Roman',serif&quot; }}&gt;Math.round()&lt;/span&gt; 半价向上得 91。肉眼读代码发现不了——修复为 &lt;span style={{ fontFamily: &quot;'Times New Roman',serif&quot; }}&gt;floor(v+0.5)&lt;/span&gt; 后，对拍从 3/5 变为 5/5 完全一致。&#10;                &lt;/Text&gt;&#10;            &lt;/Box&gt;&#10;            &lt;Box style={{ background: '#F7F9FC', border: '1px solid #D6DCE5', padding: '14px 18px', marginTop: 14 }}&gt;&#10;                &lt;Text style={{ fontSize: 16, fontWeight: 'bold', color: '#0E3F8C' }}&gt;&#10;                    区分度即校准证据&#10;                &lt;/Text&gt;&#10;                &lt;Text style={{ fontSize: 13.5, color: '#4A5568', marginTop: 8, lineHeight: 1.7 }}&gt;&#10;                    量化数据把内容深度从 &lt;span style={{ fontWeight: 'bold', color: '#1E4FA8' }}&gt;48 拉到 91&lt;/span&gt;；STAR 结构把结构逻辑从 54 拉到 78；口头禅把语言表达压到 52；防御性表述把抗压表现孤立到 &lt;span style={{ fontWeight: 'bold', color: '#D9534F' }}&gt;43&lt;/span&gt;（其他维度不动）；匹配报告把岗位匹配推到 &lt;span style={{ fontWeight: 'bold', color: '#1E4FA8' }}&gt;92&lt;/span&gt;。&#10;                &lt;/Text&gt;&#10;            &lt;/Box&gt;&#10;            &lt;Box style={{ flex: 1 }} /&gt;&#10;            &lt;Box style={{ background: '#0E3F8C', padding: '12px 16px' }}&gt;&#10;                &lt;Text style={{ fontSize: 13.5, color: '#FFFFFF', lineHeight: 1.6 }}&gt;&#10;                    不变量写成 11 条断言常驻回归：单调性 · 维度分离 · 确定性 · 边界 [30, 96] · 证据链。&#10;                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11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705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校准：双引擎对拍，发现一次真实舍入缺陷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02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原创性论证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1009650"/>
            <a:ext cx="6172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五个标准样本的总分（双引擎一致输出）</a:t>
            </a:r>
            <a:endParaRPr/>
          </a:p>
        </p:txBody>
      </p:sp>
      <p:graphicFrame>
        <p:nvGraphicFramePr>
          <p:cNvPr id="72" name="72"/>
          <p:cNvGraphicFramePr/>
          <p:nvPr/>
        </p:nvGraphicFramePr>
        <p:xfrm rot="0" flipH="0" flipV="0">
          <a:off x="381000" y="1295400"/>
          <a:ext cx="6172200" cy="25527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3886200"/>
            <a:ext cx="6172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总分单调：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>55 → 56 → 64 → 77 → 82——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答题质量提升，总分必须提升（不变量之一）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5300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规则来源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95300" y="4495800"/>
            <a:ext cx="1228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信号对应面试评估公认维度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1952625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066925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双引擎对拍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066925" y="4495800"/>
            <a:ext cx="1228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Python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与</a:t>
            </a: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 JS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共用</a:t>
            </a: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 5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个标准样本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524250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638550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③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缺陷修复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638550" y="4495800"/>
            <a:ext cx="12287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对拍首跑发现舍入分歧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095875" y="4191000"/>
            <a:ext cx="1457325" cy="8286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210175" y="428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Noto Sans SC"/>
                <a:ea typeface="Noto Sans SC"/>
              </a:rPr>
              <a:t xml:space="preserve">④ </a:t>
            </a:r>
            <a:r>
              <a:rPr lang="zh-CN" sz="1125" b="1">
                <a:solidFill>
                  <a:srgbClr val="1E4FA8"/>
                </a:solidFill>
                <a:latin typeface="Noto Sans SC"/>
                <a:ea typeface="Noto Sans SC"/>
              </a:rPr>
              <a:t>不变量固化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210175" y="4495800"/>
            <a:ext cx="12287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38">
                <a:solidFill>
                  <a:srgbClr val="4A5568"/>
                </a:solidFill>
                <a:latin typeface="Noto Sans SC"/>
                <a:ea typeface="Noto Sans SC"/>
              </a:rPr>
              <a:t xml:space="preserve">11 </a:t>
            </a:r>
            <a:r>
              <a:rPr lang="zh-CN" sz="938">
                <a:solidFill>
                  <a:srgbClr val="4A5568"/>
                </a:solidFill>
                <a:latin typeface="Noto Sans SC"/>
                <a:ea typeface="Noto Sans SC"/>
              </a:rPr>
              <a:t>条断言常驻回归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858000" y="1009650"/>
            <a:ext cx="4991100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6819900" y="1009650"/>
            <a:ext cx="5029200" cy="2000250"/>
          </a:xfrm>
          <a:custGeom>
            <a:pathLst>
              <a:path w="528" h="210">
                <a:moveTo>
                  <a:pt x="0" y="0"/>
                </a:moveTo>
                <a:lnTo>
                  <a:pt x="4" y="0"/>
                </a:lnTo>
                <a:lnTo>
                  <a:pt x="4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029450" y="114300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对拍发现的真实缺陷（锚点数字）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029450" y="1409700"/>
            <a:ext cx="8953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D9534F"/>
                </a:solidFill>
                <a:latin typeface="Noto Sans SC"/>
                <a:ea typeface="Noto Sans SC"/>
              </a:rPr>
              <a:t>90.5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39100" y="1409700"/>
            <a:ext cx="2476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4A5568"/>
                </a:solidFill>
                <a:latin typeface="Noto Sans SC"/>
                <a:ea typeface="Noto Sans SC"/>
              </a:rPr>
              <a:t>→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401050" y="1409700"/>
            <a:ext cx="52387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Noto Sans SC"/>
                <a:ea typeface="Noto Sans SC"/>
              </a:rPr>
              <a:t>91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029450" y="2105025"/>
            <a:ext cx="46101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真值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48 + 22 + 5×2.5 + 8 = 90.5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恰在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.5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边界：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Python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round()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银行家舍入得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90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JS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Math.round()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半价向上得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91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。肉眼读代码发现不了——修复为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floor(v+0.5)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后，对拍从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3/5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变为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5/5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完全一致。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19900" y="3143250"/>
            <a:ext cx="4991100" cy="13239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991350" y="3276600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Noto Sans SC"/>
                <a:ea typeface="Noto Sans SC"/>
              </a:rPr>
              <a:t>区分度即校准证据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991350" y="3543300"/>
            <a:ext cx="46482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量化数据把内容深度从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 xml:space="preserve">48 </a:t>
            </a:r>
            <a:r>
              <a:rPr lang="zh-CN" sz="1013" b="1">
                <a:solidFill>
                  <a:srgbClr val="1E4FA8"/>
                </a:solidFill>
                <a:latin typeface="Noto Sans SC"/>
                <a:ea typeface="Noto Sans SC"/>
              </a:rPr>
              <a:t>拉到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 xml:space="preserve"> 91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STAR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结构把结构逻辑从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54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拉到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78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；口头禅把语言表达压到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52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；防御性表述把抗压表现孤立到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D9534F"/>
                </a:solidFill>
                <a:latin typeface="Noto Sans SC"/>
                <a:ea typeface="Noto Sans SC"/>
              </a:rPr>
              <a:t>43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（其他维度不动）；匹配报告把岗位匹配推到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</a:t>
            </a:r>
            <a:r>
              <a:rPr lang="en-US" sz="1013" b="1">
                <a:solidFill>
                  <a:srgbClr val="1E4FA8"/>
                </a:solidFill>
                <a:latin typeface="Noto Sans SC"/>
                <a:ea typeface="Noto Sans SC"/>
              </a:rPr>
              <a:t>92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819900" y="5314950"/>
            <a:ext cx="4991100" cy="723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972300" y="5429250"/>
            <a:ext cx="46863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不变量写成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11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条断言常驻回归：单调性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维度分离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确定性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边界</a:t>
            </a:r>
            <a:r>
              <a:rPr lang="en-US" sz="1013">
                <a:solidFill>
                  <a:srgbClr val="FFFFFF"/>
                </a:solidFill>
                <a:latin typeface="Noto Sans SC"/>
                <a:ea typeface="Noto Sans SC"/>
              </a:rPr>
              <a:t xml:space="preserve"> [30, 96] · </a:t>
            </a:r>
            <a:r>
              <a:rPr lang="zh-CN" sz="1013">
                <a:solidFill>
                  <a:srgbClr val="FFFFFF"/>
                </a:solidFill>
                <a:latin typeface="Noto Sans SC"/>
                <a:ea typeface="Noto Sans SC"/>
              </a:rPr>
              <a:t>证据链。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1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3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30, height: 120, justifyContent: 'center' }}&gt;&#10;            &lt;Text style={{ fontSize: 15, color: '#3D7BD9', letterSpacing: 4, fontWeight: 'bold' }}&gt;&#10;                第 03 章&#10;            &lt;/Text&gt;&#10;            &lt;Text style={{ fontSize: 42, fontWeight: 'bold', color: '#0E3F8C', marginTop: 14 }}&gt;&#10;                真实完成度与工程质量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12–P14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真实 LLM 闭环&lt;/Text&gt;&#10;                        &lt;Text style={{ fontSize: 16, color: '#4A5568', marginTop: 5, lineHeight: 1.5 }}&gt;&#10;                            线上 SSE 流式可验，不是 Mock 界面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真实流式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三级降级保底&lt;/Text&gt;&#10;                        &lt;Text style={{ fontSize: 16, color: '#4A5568', marginTop: 5, lineHeight: 1.5 }}&gt;&#10;                            后端 5xx / 超时同样回退，演示不中断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三级降级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全量回归纪律&lt;/Text&gt;&#10;                        &lt;Text style={{ fontSize: 16, color: '#4A5568', marginTop: 5, lineHeight: 1.5 }}&gt;&#10;                            每次改动必须全绿，四渠道发布逐一核验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全量回归&lt;/Text&gt;&#10;                &lt;/Box&gt;&#10;            &lt;/Box&gt;&#10;        &lt;/Box&gt;&#10;    &lt;/Box&gt;&#10;    {/* 右下：本章证明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证明&#10;            &lt;/Text&gt;&#10;            &lt;Text style={{ fontSize: 16, color: '#D7E3F5', marginTop: 6, lineHeight: 1.6 }}&gt;&#10;                演示视频展示的是真实 API 往返与降级路径——完成度经得起现场断网考验。&#10;            &lt;/Text&gt;&#10;        &lt;/Box&gt;&#10;        &lt;Box style={{ width: 120, alignItems: 'center', gap: 6 }}&gt;&#10;            &lt;FAIcon name='check-circle' style={{ fill: '#FFFFFF', width: 30, height: 30 }} /&gt;&#10;            &lt;Text style={{ fontSize: 13, color: '#9FB9E4', letterSpacing: 1 }}&gt;&#10;                第 03 章 · 真实完成度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03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067300" y="6096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03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067300" y="914400"/>
            <a:ext cx="40957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Noto Sans SC"/>
                <a:ea typeface="Noto Sans SC"/>
              </a:rPr>
              <a:t>真实完成度与工程质量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067300" y="1609725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9372600" y="647700"/>
            <a:ext cx="21336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601200" y="742950"/>
            <a:ext cx="16764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P12–P14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01346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24288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真实</a:t>
            </a:r>
            <a:r>
              <a:rPr lang="en-US" sz="1575" b="1">
                <a:solidFill>
                  <a:srgbClr val="1A2230"/>
                </a:solidFill>
                <a:latin typeface="Noto Sans SC"/>
                <a:ea typeface="Noto Sans SC"/>
              </a:rPr>
              <a:t xml:space="preserve"> LLM </a:t>
            </a: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闭环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24288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线上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SSE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流式可验，不是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界面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0515600" y="28003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648950" y="2857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真实流式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三级降级保底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后端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5xx /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超时同样回退，演示不中断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10515600" y="381000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0648950" y="3867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三级降级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2743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全量回归纪律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每次改动必须全绿，四渠道发布逐一核验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全量回归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本章证明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演示视频展示的是真实</a:t>
            </a:r>
            <a:r>
              <a:rPr lang="en-US" sz="1200">
                <a:solidFill>
                  <a:srgbClr val="D7E3F5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往返与降级路径——完成度经得起现场断网考验。</a:t>
            </a:r>
            <a:endParaRPr/>
          </a:p>
        </p:txBody>
      </p:sp>
      <p:pic>
        <p:nvPicPr>
          <p:cNvPr id="1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03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0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真实完成度：线上 SSE 流式闭环，不是 Mock 界面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3 真实完成度&#10;            &lt;/Text&gt;&#10;        &lt;/Box&gt;&#10;    &lt;/Box&gt;&#10;    {/* ===== 上部：真实 SSE 事件流 + 三项线上验证 ===== */}&#10;    &lt;Box style={{ position: 'absolute', top: 84, left: 0, width: '1280px', height: 318, padding: '20px 40px 0 40px', boxSizing: 'border-box', flexDirection: 'row', gap: 24 }}&gt;&#10;        {/* 左：SSE 事件协议代码块 */}&#10;        &lt;Box style={{ width: 772 }}&gt;&#10;            &lt;Text style={{ fontSize: 15, fontWeight: 'bold', color: '#0E3F8C', letterSpacing: 1 }}&gt;&#10;                /api/chat/stream 事件协议（线上实测节选）&#10;            &lt;/Text&gt;&#10;            &lt;Box style={{ marginTop: 10 }}&gt;&#10;                &lt;CodeBlock&#10;                    code={`event: agent     data: {&quot;id&quot;:&quot;pressure&quot;,&quot;name&quot;:&quot;压力面试官&quot;}&#10;event: thinking  data: {&quot;text&quot;:&quot;正在组织第 3 个问题…&quot;}&#10;event: delta     data: {&quot;text&quot;:&quot;你提到订单服务——&quot;}&#10;event: delta     data: {&quot;text&quot;:&quot;峰值 QPS 是多少？&quot;}&#10;event: observer  data: {&quot;note&quot;:&quot;结构完整但缺量化&quot;}&#10;event: done      data: {&quot;finish_reason&quot;:&quot;stop&quot;,&quot;usage&quot;:true}`}&#10;                    language='javascript'&#10;                    width={772}&#10;                    fontSize={12.5}&#10;                    theme='github-light'&#10;                /&gt;&#10;            &lt;/Box&gt;&#10;            &lt;Text style={{ fontSize: 12.5, color: '#8B97A8', marginTop: 8, lineHeight: 1.5 }}&gt;&#10;                线上镜像实测：真实流式输出含 finish_reason 与 usage；GitHub Pages 跨域通道三头齐全，内容一致。&#10;            &lt;/Text&gt;&#10;        &lt;/Box&gt;&#10;        {/* 右：三项线上验证结果 */}&#10;        &lt;Box style={{ flex: 1, flexDirection: 'column', gap: 12 }}&gt;&#10;            &lt;Box style={{ flex: 1, background: '#E8EFF8', padding: '12px 16px', justifyContent: 'center' }}&gt;&#10;                &lt;Text style={{ fontSize: 22, fontWeight: 'bold', color: '#1E4FA8' }}&gt;&#10;                    llm_ready: true&#10;                &lt;/Text&gt;&#10;                &lt;Text style={{ fontSize: 13, color: '#4A5568', marginTop: 4 }}&gt;&#10;                    /api/health 线上返回 · 模型 glm-4-flash&#10;                &lt;/Text&gt;&#10;            &lt;/Box&gt;&#10;            &lt;Box style={{ flex: 1, background: '#E8EFF8', padding: '12px 16px', justifyContent: 'center' }}&gt;&#10;                &lt;Text style={{ fontSize: 22, fontWeight: 'bold', color: '#1E4FA8' }}&gt;&#10;                    报告总分 78&#10;                &lt;/Text&gt;&#10;                &lt;Text style={{ fontSize: 13, color: '#4A5568', marginTop: 4 }}&gt;&#10;                    登录 → 建会话 → GLM 提问 → sync → 服务端报告&#10;                &lt;/Text&gt;&#10;            &lt;/Box&gt;&#10;            &lt;Box style={{ flex: 1, background: '#E8EFF8', padding: '12px 16px', justifyContent: 'center' }}&gt;&#10;                &lt;Text style={{ fontSize: 22, fontWeight: 'bold', color: '#1E4FA8' }}&gt;&#10;                    Key 零前端接触&#10;                &lt;/Text&gt;&#10;                &lt;Text style={{ fontSize: 13, color: '#4A5568', marginTop: 4 }}&gt;&#10;                    只在服务端环境变量 · X-Auth-Token 双通道&#10;                &lt;/Text&gt;&#10;            &lt;/Box&gt;&#10;        &lt;/Box&gt;&#10;    &lt;/Box&gt;&#10;    {/* ===== 下部：三级降级三卡 ===== */}&#10;    &lt;Box style={{ position: 'absolute', top: 402, left: 0, width: '1280px', height: 254, padding: '0 40px', boxSizing: 'border-box', flexDirection: 'row', gap: 20 }}&gt;&#10;        &lt;Box style={{ flex: 1, background: '#F7F9FC', border: '1px solid #D6DCE5', borderTop: '3px solid #1E4FA8', padding: '14px 18px' }}&gt;&#10;            &lt;Text style={{ fontSize: 17, fontWeight: 'bold', color: '#0E3F8C' }}&gt;三级降级链&lt;/Text&gt;&#10;            &lt;Text style={{ fontSize: 13.5, color: '#4A5568', marginTop: 8, lineHeight: 1.7 }}&gt;&#10;                ① 后端真实模型（GLM SSE 流式）&lt;br /&gt;② 浏览器直连 Key（sessionStorage 逃生通道）&lt;br /&gt;③ 本地 Mock（无网也能完整走完流程）&#10;            &lt;/Text&gt;&#10;        &lt;/Box&gt;&#10;        &lt;Box style={{ flex: 1, background: '#F7F9FC', border: '1px solid #D6DCE5', borderTop: '3px solid #1E4FA8', padding: '14px 18px' }}&gt;&#10;            &lt;Text style={{ fontSize: 17, fontWeight: 'bold', color: '#0E3F8C' }}&gt;回退触发条件&lt;/Text&gt;&#10;            &lt;Text style={{ fontSize: 13.5, color: '#4A5568', marginTop: 8, lineHeight: 1.7 }}&gt;&#10;                后端 5xx / 超时 / 完全无网，均自动向下切换；评分与检索策略三级一致——赛场网络抖动不打断演示。&#10;            &lt;/Text&gt;&#10;        &lt;/Box&gt;&#10;        &lt;Box style={{ width: 380, background: '#0E3F8C', padding: '14px 18px' }}&gt;&#10;            &lt;Text style={{ fontSize: 17, fontWeight: 'bold', color: '#FFFFFF' }}&gt;现场看什么&lt;/Text&gt;&#10;            &lt;Text style={{ fontSize: 13.5, color: '#D7E3F5', marginTop: 8, lineHeight: 1.7 }}&gt;&#10;                演示视频展示的是真实 API 请求与响应、错误处理与降级机制——远比一个完美的 Mock 界面更有说服力。&#10;            &lt;/Text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13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5429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真实完成度：线上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SSE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流式闭环，不是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界面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03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735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0E3F8C"/>
                </a:solidFill>
                <a:latin typeface="Noto Sans SC"/>
                <a:ea typeface="Noto Sans SC"/>
              </a:rPr>
              <a:t xml:space="preserve">/api/chat/stream </a:t>
            </a:r>
            <a:r>
              <a:rPr lang="zh-CN" sz="1125" b="1" spc="75">
                <a:solidFill>
                  <a:srgbClr val="0E3F8C"/>
                </a:solidFill>
                <a:latin typeface="Noto Sans SC"/>
                <a:ea typeface="Noto Sans SC"/>
              </a:rPr>
              <a:t>事件协议（线上实测节选）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2800350"/>
            <a:ext cx="73533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线上镜像实测：真实流式输出含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 finish_reason 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与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 usage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；</a:t>
            </a:r>
            <a:r>
              <a:rPr lang="en-US" sz="938">
                <a:solidFill>
                  <a:srgbClr val="8B97A8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938">
                <a:solidFill>
                  <a:srgbClr val="8B97A8"/>
                </a:solidFill>
                <a:latin typeface="Noto Sans SC"/>
                <a:ea typeface="Noto Sans SC"/>
              </a:rPr>
              <a:t>跨域通道三头齐全，内容一致。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962900" y="990600"/>
            <a:ext cx="38481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115300" y="12001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>llm_ready: true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15300" y="1495425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/api/health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线上返回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模型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glm-4-flash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7962900" y="1971675"/>
            <a:ext cx="3848100" cy="8763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15300" y="21907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Noto Sans SC"/>
                <a:ea typeface="Noto Sans SC"/>
              </a:rPr>
              <a:t>报告总分</a:t>
            </a: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 xml:space="preserve"> 78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115300" y="2486025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登录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建会话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GLM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提问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→ sync →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服务端报告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962900" y="2962275"/>
            <a:ext cx="3848100" cy="8667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15300" y="3171825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Noto Sans SC"/>
                <a:ea typeface="Noto Sans SC"/>
              </a:rPr>
              <a:t xml:space="preserve">Key </a:t>
            </a:r>
            <a:r>
              <a:rPr lang="zh-CN" sz="1650" b="1">
                <a:solidFill>
                  <a:srgbClr val="1E4FA8"/>
                </a:solidFill>
                <a:latin typeface="Noto Sans SC"/>
                <a:ea typeface="Noto Sans SC"/>
              </a:rPr>
              <a:t>零前端接触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115300" y="34671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只在服务端环境变量</a:t>
            </a:r>
            <a:r>
              <a:rPr lang="en-US" sz="975">
                <a:solidFill>
                  <a:srgbClr val="4A5568"/>
                </a:solidFill>
                <a:latin typeface="Noto Sans SC"/>
                <a:ea typeface="Noto Sans SC"/>
              </a:rPr>
              <a:t xml:space="preserve"> · X-Auth-Token </a:t>
            </a:r>
            <a:r>
              <a:rPr lang="zh-CN" sz="975">
                <a:solidFill>
                  <a:srgbClr val="4A5568"/>
                </a:solidFill>
                <a:latin typeface="Noto Sans SC"/>
                <a:ea typeface="Noto Sans SC"/>
              </a:rPr>
              <a:t>双通道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81000" y="1257300"/>
            <a:ext cx="7353300" cy="1466850"/>
          </a:xfrm>
          <a:prstGeom prst="roundRect">
            <a:avLst>
              <a:gd name="adj" fmla="val 5195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59" name=""/>
          <p:cNvSpPr txBox="1"/>
          <p:nvPr/>
        </p:nvSpPr>
        <p:spPr>
          <a:xfrm rot="0" flipH="0" flipV="0">
            <a:off x="533400" y="1390650"/>
            <a:ext cx="704850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agent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"id"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"pressure"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"name"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"压力面试官"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thinking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"正在组织第 3 个问题…"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delta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"你提到订单服务——"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delta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"text"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"峰值 QPS 是多少？"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observer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"note"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"结构完整但缺量化"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event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 xml:space="preserve">: done      </a:t>
            </a:r>
            <a:r>
              <a:rPr sz="938">
                <a:solidFill>
                  <a:srgbClr val="6F42C1"/>
                </a:solidFill>
                <a:latin typeface="Menlo"/>
                <a:ea typeface="Menlo"/>
              </a:rPr>
              <a:t>data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 {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"finish_reason"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"stop"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032F62"/>
                </a:solidFill>
                <a:latin typeface="Menlo"/>
                <a:ea typeface="Menlo"/>
              </a:rPr>
              <a:t>"usage"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005CC5"/>
                </a:solidFill>
                <a:latin typeface="Menlo"/>
                <a:ea typeface="Menlo"/>
              </a:rPr>
              <a:t>true</a:t>
            </a:r>
            <a:r>
              <a:rPr sz="938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81000" y="3857625"/>
            <a:ext cx="371475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381000" y="3829050"/>
            <a:ext cx="3714750" cy="2447925"/>
          </a:xfrm>
          <a:custGeom>
            <a:pathLst>
              <a:path w="390" h="257">
                <a:moveTo>
                  <a:pt x="0" y="0"/>
                </a:moveTo>
                <a:lnTo>
                  <a:pt x="390" y="0"/>
                </a:lnTo>
                <a:lnTo>
                  <a:pt x="39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2450" y="39909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Noto Sans SC"/>
                <a:ea typeface="Noto Sans SC"/>
              </a:rPr>
              <a:t>三级降级链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2450" y="4267200"/>
            <a:ext cx="3371850" cy="790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①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后端真实模型（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GLM SSE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流式）</a:t>
            </a:r>
            <a:endParaRPr/>
          </a:p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②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浏览器直连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Key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sessionStorage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逃生通道）</a:t>
            </a:r>
            <a:endParaRPr/>
          </a:p>
          <a:p>
            <a:pPr>
              <a:lnSpc>
                <a:spcPct val="17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③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本地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（无网也能完整走完流程）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286250" y="3857625"/>
            <a:ext cx="3714750" cy="24193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286250" y="3829050"/>
            <a:ext cx="3714750" cy="2447925"/>
          </a:xfrm>
          <a:custGeom>
            <a:pathLst>
              <a:path w="390" h="257">
                <a:moveTo>
                  <a:pt x="0" y="0"/>
                </a:moveTo>
                <a:lnTo>
                  <a:pt x="390" y="0"/>
                </a:lnTo>
                <a:lnTo>
                  <a:pt x="39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457700" y="3990975"/>
            <a:ext cx="3371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Noto Sans SC"/>
                <a:ea typeface="Noto Sans SC"/>
              </a:rPr>
              <a:t>回退触发条件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457700" y="4267200"/>
            <a:ext cx="33718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后端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5xx /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超时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/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完全无网，均自动向下切换；评分与检索策略三级一致——赛场网络抖动不打断演示。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8191500" y="3829050"/>
            <a:ext cx="3619500" cy="2419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62950" y="3962400"/>
            <a:ext cx="3276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现场看什么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62950" y="4238625"/>
            <a:ext cx="32766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演示视频展示的是真实</a:t>
            </a:r>
            <a:r>
              <a:rPr lang="en-US" sz="1013">
                <a:solidFill>
                  <a:srgbClr val="D7E3F5"/>
                </a:solidFill>
                <a:latin typeface="Noto Sans SC"/>
                <a:ea typeface="Noto Sans SC"/>
              </a:rPr>
              <a:t xml:space="preserve"> API </a:t>
            </a: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请求与响应、错误处理与降级机制——远比一个完美的</a:t>
            </a:r>
            <a:r>
              <a:rPr lang="en-US" sz="1013">
                <a:solidFill>
                  <a:srgbClr val="D7E3F5"/>
                </a:solidFill>
                <a:latin typeface="Noto Sans SC"/>
                <a:ea typeface="Noto Sans SC"/>
              </a:rPr>
              <a:t xml:space="preserve"> Mock </a:t>
            </a:r>
            <a:r>
              <a:rPr lang="zh-CN" sz="1013">
                <a:solidFill>
                  <a:srgbClr val="D7E3F5"/>
                </a:solidFill>
                <a:latin typeface="Noto Sans SC"/>
                <a:ea typeface="Noto Sans SC"/>
              </a:rPr>
              <a:t>界面更有说服力。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174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===== 母版：A3 深蓝顶条 ===== */}&#10;    &lt;Box style={{ position: 'absolute', top: 0, left: 0, width: '1280px', height: 84, background: '#0E3F8C' }}&gt;&#10;        &lt;svg style={{ position: 'absolute', right: 210, top: 18, opacity: 0.16 }} width={150} height={48} viewBox='0 0 150 48'&gt;&#10;            &lt;g stroke='#FFFFFF' strokeWidth='1.2' fill='none'&gt;&#10;                &lt;path d='M2 24 L28 24 L38 10 L74 10 L84 24 L120 24 L130 38 L148 38' /&gt;&#10;                &lt;path d='M38 10 L38 38 L74 38' /&gt;&#10;                &lt;circle cx='28' cy='24' r='3' fill='#FFFFFF' /&gt;&#10;                &lt;circle cx='84' cy='24' r='3' fill='#FFFFFF' /&gt;&#10;            &lt;/g&gt;&#10;        &lt;/svg&gt;&#10;        &lt;Box style={{ position: 'absolute', left: 40, top: 0, height: 84, justifyContent: 'center' }}&gt;&#10;            &lt;Text style={{ fontSize: 26, fontWeight: 'bold', color: '#FFFFFF' }}&gt;&#10;                工程质量：全量回归 + 四渠道发布流水线&#10;            &lt;/Text&gt;&#10;        &lt;/Box&gt;&#10;        &lt;Box style={{ position: 'absolute', right: 40, top: 24, background: '#1E4FA8', padding: '7px 16px', borderRadius: 14 }}&gt;&#10;            &lt;Text style={{ fontSize: 14, color: '#FFFFFF', letterSpacing: 1 }}&gt;&#10;                03 真实完成度&#10;            &lt;/Text&gt;&#10;        &lt;/Box&gt;&#10;    &lt;/Box&gt;&#10;    {/* ===== 左侧标题栏 ===== */}&#10;    &lt;Box style={{ position: 'absolute', top: 84, left: 0, width: 356, height: 572, background: '#0E3F8C', padding: '30px 32px 26px 40px', boxSizing: 'border-box', flexDirection: 'column' }}&gt;&#10;        &lt;Text style={{ fontSize: 14, color: '#9FB9E4', letterSpacing: 4 }}&gt;&#10;            测试与发布&#10;        &lt;/Text&gt;&#10;        &lt;Text style={{ fontSize: 30, fontWeight: 'bold', color: '#FFFFFF', marginTop: 14, lineHeight: 1.35 }}&gt;&#10;            全量回归纪律&#10;        &lt;/Text&gt;&#10;        &lt;Box style={{ width: 48, height: 4, background: '#FFC107', marginTop: 18 }} /&gt;&#10;        &lt;Text style={{ fontSize: 15, color: '#D7E3F5', lineHeight: 1.85, marginTop: 18 }}&gt;&#10;            每次改动必须全绿才提交——测试不是演示后的补丁，而是改动发生时的第一道闸门。能复现的工程纪律，是「团队可完整解释全部代码」的底座。&#10;        &lt;/Text&gt;&#10;        &lt;Box style={{ flex: 1 }} /&gt;&#10;        &lt;Box style={{ background: '#1E4FA8', padding: '14px 16px' }}&gt;&#10;            &lt;Text style={{ fontSize: 15, fontWeight: 'bold', color: '#FFFFFF' }}&gt;&#10;                发布链&#10;            &lt;/Text&gt;&#10;            &lt;Text style={{ fontSize: 14, color: '#D7E3F5', marginTop: 6, lineHeight: 1.6 }}&gt;&#10;                repo → Pages → 镜像 → Release&lt;br /&gt;每次变更后逐一核验&#10;            &lt;/Text&gt;&#10;        &lt;/Box&gt;&#10;    &lt;/Box&gt;&#10;    {/* ===== 右侧测试矩阵 + 发布链 ===== */}&#10;    &lt;Box style={{ position: 'absolute', top: 84, left: 356, width: 924, height: 572, padding: '24px 36px', boxSizing: 'border-box' }}&gt;&#10;        &lt;Text style={{ fontSize: 16, fontWeight: 'bold', color: '#0E3F8C', letterSpacing: 1 }}&gt;&#10;            测试矩阵（全部可当场重跑）&#10;        &lt;/Text&gt;&#10;        &lt;Box style={{ marginTop: 12, height: 252 }}&gt;&#10;            &lt;Table&#10;                style={{ width: '100%', height: 252 }}&#10;                defaultTextStyle={{ fontSize: 13.5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层', textStyle: { bold: true, color: '#FFFFFF' }, cellStyle: { background: { color: '#0E3F8C' } } },&#10;                        { text: '规模', textStyle: { bold: true, color: '#FFFFFF' }, cellStyle: { background: { color: '#0E3F8C' } } },&#10;                        { text: '覆盖内容', textStyle: { bold: true, color: '#FFFFFF' }, cellStyle: { background: { color: '#0E3F8C' } } },&#10;                    ],&#10;                    [&#10;                        { text: '前端', textStyle: { bold: true, color: '#0E3F8C' } },&#10;                        { text: '22 套 · 1513 断言', textStyle: { bold: true, color: '#1E4FA8' } },&#10;                        { text: 'jsdom 端到端（含 RAG 重排专项 9 条）' },&#10;                    ],&#10;                    [&#10;                        { text: '后端', textStyle: { bold: true, color: '#0E3F8C' }, cellStyle: { background: { color: '#F7F9FC' } } },&#10;                        { text: '37 项 pytest', textStyle: { bold: true, color: '#1E4FA8' }, cellStyle: { background: { color: '#F7F9FC' } } },&#10;                        { text: '含评分校准不变量 11 条（单调性 / 维度分离 / 确定性）', cellStyle: { background: { color: '#F7F9FC' } } },&#10;                    ],&#10;                    [&#10;                        { text: '单元', textStyle: { bold: true, color: '#0E3F8C' } },&#10;                        { text: '217 项 Node', textStyle: { bold: true, color: '#1E4FA8' } },&#10;                        { text: 'store / 用户系统 / 简历 / 报告逻辑' },&#10;                    ],&#10;                    [&#10;                        { text: '对拍', textStyle: { bold: true, color: '#0E3F8C' }, cellStyle: { background: { color: '#F7F9FC' } } },&#10;                        { text: '5/5 一致', textStyle: { bold: true, color: '#1E4FA8' }, cellStyle: { background: { color: '#F7F9FC' } } },&#10;                        { text: '双引擎评分共用同一份标准样本逐维度比对', cellStyle: { background: { color: '#F7F9FC' } } },&#10;                    ],&#10;                    [&#10;                        { text: '规范', textStyle: { bold: true, color: '#0E3F8C' } },&#10;                        { text: 'lint + 类型', textStyle: { bold: true, color: '#1E4FA8' } },&#10;                        { text: 'ESLint 0 error · Prettier 全绿 · JSDoc' },&#10;                    ],&#10;                ]}&#10;            /&gt;&#10;        &lt;/Box&gt;&#10;        {/* 发布链节点串 */}&#10;        &lt;Text style={{ fontSize: 16, fontWeight: 'bold', color: '#0E3F8C', letterSpacing: 1, marginTop: 20 }}&gt;&#10;            四渠道发布流水线&#10;        &lt;/Text&gt;&#10;        &lt;Box style={{ flexDirection: 'row', alignItems: 'center', gap: 10, marginTop: 12 }}&gt;&#10;            &lt;Box style={{ flex: 1, background: '#E8EFF8', border: '1px solid #C9D8F0', padding: '12px 8px', alignItems: 'center' }}&gt;&#10;                &lt;Text style={{ fontSize: 15, fontWeight: 'bold', color: '#0E3F8C' }}&gt;repo (main)&lt;/Text&gt;&#10;                &lt;Text style={{ fontSize: 12, color: '#4A5568', marginTop: 3 }}&gt;代码与文档单一事实源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GitHub Pages&lt;/Text&gt;&#10;                &lt;Text style={{ fontSize: 12, color: '#4A5568', marginTop: 3 }}&gt;海外演示入口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国内镜像&lt;/Text&gt;&#10;                &lt;Text style={{ fontSize: 12, color: '#4A5568', marginTop: 3 }}&gt;同源后端 · 赛场直连&lt;/Text&gt;&#10;            &lt;/Box&gt;&#10;            &lt;FAIcon name='arrow-right' style={{ fill: '#1E4FA8', width: 20, height: 20 }} /&gt;&#10;            &lt;Box style={{ flex: 1, background: '#E8EFF8', border: '1px solid #C9D8F0', padding: '12px 8px', alignItems: 'center' }}&gt;&#10;                &lt;Text style={{ fontSize: 15, fontWeight: 'bold', color: '#0E3F8C' }}&gt;Release 附件&lt;/Text&gt;&#10;                &lt;Text style={{ fontSize: 12, color: '#4A5568', marginTop: 3 }}&gt;demo / 文档 / PDF / 日志&lt;/Text&gt;&#10;            &lt;/Box&gt;&#10;        &lt;/Box&gt;&#10;    &lt;/Box&gt;&#10;    {/* ===== 母版：页脚 ===== */}&#10;    &lt;Box style={{ position: 'absolute', bottom: 0, left: 0, width: '1280px', height: 64, borderTop: '1px solid #E5E7EB', flexDirection: 'row', alignItems: 'center', justifyContent: 'space-between', padding: '0 40px', boxSizing: 'border-box' }}&gt;&#10;        &lt;Text style={{ fontSize: 13, color: '#8B97A8' }}&gt;&#10;            面镜 FutureMirror · 竞赛演示&#10;        &lt;/Text&gt;&#10;        &lt;Text style={{ fontSize: 14, color: '#1E4FA8', fontWeight: 'bold' }}&gt;&#10;            14 / 1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0" y="0"/>
            <a:ext cx="12192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0" y="171450"/>
            <a:ext cx="1428750" cy="4572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81000" y="247650"/>
            <a:ext cx="4448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工程质量：全量回归</a:t>
            </a:r>
            <a:r>
              <a:rPr lang="en-US" sz="1950" b="1">
                <a:solidFill>
                  <a:srgbClr val="FFFFFF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950" b="1">
                <a:solidFill>
                  <a:srgbClr val="FFFFFF"/>
                </a:solidFill>
                <a:latin typeface="Noto Sans SC"/>
                <a:ea typeface="Noto Sans SC"/>
              </a:rPr>
              <a:t>四渠道发布流水线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0591800" y="228600"/>
            <a:ext cx="1219200" cy="295275"/>
          </a:xfrm>
          <a:prstGeom prst="roundRect">
            <a:avLst>
              <a:gd name="adj" fmla="val 4516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744200" y="2952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/>
                </a:solidFill>
                <a:latin typeface="Noto Sans SC"/>
                <a:ea typeface="Noto Sans SC"/>
              </a:rPr>
              <a:t xml:space="preserve">03 </a:t>
            </a:r>
            <a:r>
              <a:rPr lang="zh-CN" sz="1050" spc="75">
                <a:solidFill>
                  <a:srgbClr val="FFFFFF"/>
                </a:solidFill>
                <a:latin typeface="Noto Sans SC"/>
                <a:ea typeface="Noto Sans SC"/>
              </a:rPr>
              <a:t>真实完成度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0" y="800100"/>
            <a:ext cx="3390900" cy="5448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81000" y="1085850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300">
                <a:solidFill>
                  <a:srgbClr val="9FB9E4"/>
                </a:solidFill>
                <a:latin typeface="Noto Sans SC"/>
                <a:ea typeface="Noto Sans SC"/>
              </a:rPr>
              <a:t>测试与发布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1000" y="1381125"/>
            <a:ext cx="2705100" cy="4667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Noto Sans SC"/>
                <a:ea typeface="Noto Sans SC"/>
              </a:rPr>
              <a:t>全量回归纪律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381000" y="2019300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2228850"/>
            <a:ext cx="270510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125">
                <a:solidFill>
                  <a:srgbClr val="D7E3F5"/>
                </a:solidFill>
                <a:latin typeface="Noto Sans SC"/>
                <a:ea typeface="Noto Sans SC"/>
              </a:rPr>
              <a:t>每次改动必须全绿才提交——测试不是演示后的补丁，而是改动发生时的第一道闸门。能复现的工程纪律，是「团队可完整解释全部代码」的底座。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4991100"/>
            <a:ext cx="2705100" cy="1009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3400" y="512445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发布链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33400" y="5353050"/>
            <a:ext cx="24003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repo → Pages → 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镜像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 xml:space="preserve"> → Release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每次变更后逐一核验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733800" y="1028700"/>
            <a:ext cx="811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测试矩阵（全部可当场重跑）</a:t>
            </a:r>
            <a:endParaRPr/>
          </a:p>
        </p:txBody>
      </p:sp>
      <p:graphicFrame>
        <p:nvGraphicFramePr>
          <p:cNvPr id="190" name=""/>
          <p:cNvGraphicFramePr/>
          <p:nvPr/>
        </p:nvGraphicFramePr>
        <p:xfrm rot="0" flipH="0" flipV="0">
          <a:off x="3733800" y="1333500"/>
          <a:ext cx="8115300" cy="2400300"/>
        </p:xfrm>
        <a:graphic>
          <a:graphicData uri="http://schemas.openxmlformats.org/drawingml/2006/table">
            <a:tbl>
              <a:tblGrid>
                <a:gridCol w="599072">
                  <a:extLst>
                    <a:ext uri="{9D8B030D-6E8A-4147-A177-3AD203B41FA5}">
                      <a16:colId val="1"/>
                    </a:ext>
                  </a:extLst>
                </a:gridCol>
                <a:gridCol w="1875783">
                  <a:extLst>
                    <a:ext uri="{9D8B030D-6E8A-4147-A177-3AD203B41FA5}">
                      <a16:colId val="2"/>
                    </a:ext>
                  </a:extLst>
                </a:gridCol>
                <a:gridCol w="5640444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覆盖内容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前端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22 套 · 1513 断言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jsdom 端到端（含 RAG 重排专项 9 条）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后端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37 项 pytest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含评分校准不变量 11 条（单调性 / 维度分离 / 确定性）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单元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217 项 Node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store / 用户系统 / 简历 / 报告逻辑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对拍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5/5 一致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双引擎评分共用同一份标准样本逐维度比对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00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规范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lint + 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ESLint 0 error · Prettier 全绿 · JSDoc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733800" y="3924300"/>
            <a:ext cx="811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0E3F8C"/>
                </a:solidFill>
                <a:latin typeface="Noto Sans SC"/>
                <a:ea typeface="Noto Sans SC"/>
              </a:rPr>
              <a:t>四渠道发布流水线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733800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238625" y="4343400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>repo (main)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038600" y="4543425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代码与文档单一事实源</a:t>
            </a:r>
            <a:endParaRPr/>
          </a:p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572125" y="4419600"/>
            <a:ext cx="190500" cy="190500"/>
          </a:xfrm>
          <a:prstGeom prst="rect">
            <a:avLst/>
          </a:prstGeom>
          <a:ln/>
        </p:spPr>
      </p:pic>
      <p:sp>
        <p:nvSpPr>
          <p:cNvPr id="196" name=""/>
          <p:cNvSpPr/>
          <p:nvPr/>
        </p:nvSpPr>
        <p:spPr>
          <a:xfrm rot="0" flipH="0" flipV="0">
            <a:off x="5857875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305550" y="4343400"/>
            <a:ext cx="847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>GitHub Pages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391275" y="45434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海外演示入口</a:t>
            </a:r>
            <a:endParaRPr/>
          </a:p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96200" y="4419600"/>
            <a:ext cx="190500" cy="190500"/>
          </a:xfrm>
          <a:prstGeom prst="rect">
            <a:avLst/>
          </a:prstGeom>
          <a:ln/>
        </p:spPr>
      </p:pic>
      <p:sp>
        <p:nvSpPr>
          <p:cNvPr id="200" name=""/>
          <p:cNvSpPr/>
          <p:nvPr/>
        </p:nvSpPr>
        <p:spPr>
          <a:xfrm rot="0" flipH="0" flipV="0">
            <a:off x="7981950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572500" y="43434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国内镜像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15325" y="4543425"/>
            <a:ext cx="1085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同源后端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赛场直连</a:t>
            </a:r>
            <a:endParaRPr/>
          </a:p>
        </p:txBody>
      </p:sp>
      <p:pic>
        <p:nvPicPr>
          <p:cNvPr id="2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20275" y="4419600"/>
            <a:ext cx="190500" cy="190500"/>
          </a:xfrm>
          <a:prstGeom prst="rect">
            <a:avLst/>
          </a:prstGeom>
          <a:ln/>
        </p:spPr>
      </p:pic>
      <p:sp>
        <p:nvSpPr>
          <p:cNvPr id="204" name=""/>
          <p:cNvSpPr/>
          <p:nvPr/>
        </p:nvSpPr>
        <p:spPr>
          <a:xfrm rot="0" flipH="0" flipV="0">
            <a:off x="10106025" y="4229100"/>
            <a:ext cx="1743075" cy="571500"/>
          </a:xfrm>
          <a:prstGeom prst="rect">
            <a:avLst/>
          </a:prstGeom>
          <a:solidFill>
            <a:srgbClr val="E8EFF8"/>
          </a:solidFill>
          <a:ln w="12700">
            <a:solidFill>
              <a:srgbClr val="C9D8F0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582275" y="4343400"/>
            <a:ext cx="800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Noto Sans SC"/>
                <a:ea typeface="Noto Sans SC"/>
              </a:rPr>
              <a:t xml:space="preserve">Release </a:t>
            </a: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附件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0353675" y="4543425"/>
            <a:ext cx="1247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demo /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文档</a:t>
            </a:r>
            <a:r>
              <a:rPr lang="en-US" sz="900">
                <a:solidFill>
                  <a:srgbClr val="4A5568"/>
                </a:solidFill>
                <a:latin typeface="Noto Sans SC"/>
                <a:ea typeface="Noto Sans SC"/>
              </a:rPr>
              <a:t xml:space="preserve"> / PDF / </a:t>
            </a:r>
            <a:r>
              <a:rPr lang="zh-CN" sz="900">
                <a:solidFill>
                  <a:srgbClr val="4A5568"/>
                </a:solidFill>
                <a:latin typeface="Noto Sans SC"/>
                <a:ea typeface="Noto Sans SC"/>
              </a:rPr>
              <a:t>日志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81000" y="6486525"/>
            <a:ext cx="1628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面镜</a:t>
            </a:r>
            <a:r>
              <a:rPr lang="en-US" sz="975">
                <a:solidFill>
                  <a:srgbClr val="8B97A8"/>
                </a:solidFill>
                <a:latin typeface="Noto Sans SC"/>
                <a:ea typeface="Noto Sans SC"/>
              </a:rPr>
              <a:t xml:space="preserve"> FutureMirror · </a:t>
            </a:r>
            <a:r>
              <a:rPr lang="zh-CN" sz="975">
                <a:solidFill>
                  <a:srgbClr val="8B97A8"/>
                </a:solidFill>
                <a:latin typeface="Noto Sans SC"/>
                <a:ea typeface="Noto Sans SC"/>
              </a:rPr>
              <a:t>竞赛演示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420475" y="647700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Noto Sans SC"/>
                <a:ea typeface="Noto Sans SC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0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左：藏蓝巨数字面板 */}&#10;    &lt;Box style={{&#10;        position: 'absolute',&#10;        top: 0,&#10;        left: 0,&#10;        width: 460,&#10;        height: 720,&#10;        background: '#0E3F8C',&#10;        justifyContent: 'center',&#10;        alignItems: 'center',&#10;    }}&gt;&#10;        &lt;Text style={{ fontSize: 15, color: '#9FB9E4', letterSpacing: 6, marginBottom: 8 }}&gt;&#10;            CHAPTER&#10;        &lt;/Text&gt;&#10;        &lt;Text style={{ fontSize: 210, fontWeight: 'bold', color: '#FFFFFF', opacity: 0.28, lineHeight: 1 }}&gt;&#10;            04&#10;        &lt;/Text&gt;&#10;    &lt;/Box&gt;&#10;    {/* 右上：章节页眉带 */}&#10;    &lt;Box style={{&#10;        position: 'absolute',&#10;        top: 0,&#10;        left: 460,&#10;        width: 820,&#10;        height: 236,&#10;        background: '#F7F9FC',&#10;        borderBottom: '1px solid #E5E7EB',&#10;        padding: '0 72px',&#10;        boxSizing: 'border-box',&#10;        flexDirection: 'row',&#10;        alignItems: 'center',&#10;        justifyContent: 'space-between',&#10;    }}&gt;&#10;        &lt;Box style={{ width: 430, height: 120, justifyContent: 'center' }}&gt;&#10;            &lt;Text style={{ fontSize: 15, color: '#3D7BD9', letterSpacing: 4, fontWeight: 'bold' }}&gt;&#10;                第 04 章&#10;            &lt;/Text&gt;&#10;            &lt;Text style={{ fontSize: 44, fontWeight: 'bold', color: '#0E3F8C', marginTop: 14 }}&gt;&#10;                现场验证&#10;            &lt;/Text&gt;&#10;            &lt;Box style={{ width: 72, height: 4, background: '#FFC107', marginTop: 22 }} /&gt;&#10;        &lt;/Box&gt;&#10;        &lt;Box style={{ height: 100, background: '#E8EFF8', padding: '0 24px', alignItems: 'center', justifyContent: 'center' }}&gt;&#10;            &lt;Text style={{ fontSize: 46, fontWeight: 'bold', color: '#1E4FA8', lineHeight: 1 }}&gt;&#10;                P15–P16&#10;            &lt;/Text&gt;&#10;            &lt;Text style={{ fontSize: 13, color: '#4A5568', marginTop: 8, letterSpacing: 3 }}&gt;&#10;                本章范围&#10;            &lt;/Text&gt;&#10;        &lt;/Box&gt;&#10;    &lt;/Box&gt;&#10;    {/* 右中：要点卡 */}&#10;    &lt;Box style={{ position: 'absolute', top: 236, left: 460, width: 820, height: 334, padding: '28px 72px 0 72px', boxSizing: 'border-box' }}&gt;&#10;        &lt;Box style={{ flexDirection: 'column', gap: 18 }}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两个免安装入口&lt;/Text&gt;&#10;                        &lt;Text style={{ fontSize: 16, color: '#4A5568', marginTop: 5, lineHeight: 1.5 }}&gt;&#10;                            GitHub Pages 演示 + 国内直连镜像，浏览器直接打开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免安装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演示账号一键登录&lt;/Text&gt;&#10;                        &lt;Text style={{ fontSize: 16, color: '#4A5568', marginTop: 5, lineHeight: 1.5 }}&gt;&#10;                            前端「一键使用演示账号」按钮，无需手输密码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一键登录&lt;/Text&gt;&#10;                &lt;/Box&gt;&#10;            &lt;/Box&gt;&#10;            &lt;Box style={{ background: '#FFFFFF', border: '1px solid #D6DCE5', borderLeft: '4px solid #1E4FA8', padding: '14px 20px', flexDirection: 'row', alignItems: 'center', justifyContent: 'space-between' }}&gt;&#10;                &lt;Box style={{ flexDirection: 'row', alignItems: 'flex-start', gap: 14 }}&gt;&#10;                    &lt;Box style={{ width: 10, height: 10, background: '#1E4FA8', marginTop: 9 }} /&gt;&#10;                    &lt;Box&gt;&#10;                        &lt;Text style={{ fontSize: 21, fontWeight: 'bold', color: '#1A2230' }}&gt;证据当场可复现&lt;/Text&gt;&#10;                        &lt;Text style={{ fontSize: 16, color: '#4A5568', marginTop: 5, lineHeight: 1.5 }}&gt;&#10;                            开发者模式自检面板 + 双引擎对拍脚本可现场运行&#10;                        &lt;/Text&gt;&#10;                    &lt;/Box&gt;&#10;                &lt;/Box&gt;&#10;                &lt;Box style={{ background: '#E8EFF8', padding: '6px 14px', marginLeft: 16 }}&gt;&#10;                    &lt;Text style={{ fontSize: 14, color: '#1E4FA8', fontWeight: 'bold' }}&gt;当场复现&lt;/Text&gt;&#10;                &lt;/Box&gt;&#10;            &lt;/Box&gt;&#10;        &lt;/Box&gt;&#10;    &lt;/Box&gt;&#10;    {/* 右下：本章邀请通栏 */}&#10;    &lt;Box style={{&#10;        position: 'absolute',&#10;        bottom: 0,&#10;        left: 460,&#10;        width: 820,&#10;        height: 150,&#10;        background: '#0E3F8C',&#10;        padding: '0 72px',&#10;        boxSizing: 'border-box',&#10;        flexDirection: 'row',&#10;        alignItems: 'center',&#10;        justifyContent: 'space-between',&#10;    }}&gt;&#10;        &lt;Box style={{ width: 520 }}&gt;&#10;            &lt;Text style={{ fontSize: 17, fontWeight: 'bold', color: '#FFFFFF' }}&gt;&#10;                本章邀请&#10;            &lt;/Text&gt;&#10;            &lt;Text style={{ fontSize: 16, color: '#D7E3F5', marginTop: 6, lineHeight: 1.6 }}&gt;&#10;                请访客现场打开链接、登录账号、运行对拍脚本——所有数字都经得起核对。&#10;            &lt;/Text&gt;&#10;        &lt;/Box&gt;&#10;        &lt;Box style={{ width: 120, alignItems: 'center', gap: 6 }}&gt;&#10;            &lt;FAIcon name='eye' style={{ fill: '#FFFFFF', width: 30, height: 30 }} /&gt;&#10;            &lt;Text style={{ fontSize: 13, color: '#9FB9E4', letterSpacing: 1 }}&gt;&#10;                第 04 章 · 现场验证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685925" y="21050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450">
                <a:solidFill>
                  <a:srgbClr val="9FB9E4"/>
                </a:solidFill>
                <a:latin typeface="Noto Sans SC"/>
                <a:ea typeface="Noto Sans SC"/>
              </a:rPr>
              <a:t>CHAPTER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52525" y="2352675"/>
            <a:ext cx="208597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FFFFFF">
                    <a:alpha val="28000"/>
                  </a:srgbClr>
                </a:solidFill>
                <a:latin typeface="Noto Sans SC"/>
                <a:ea typeface="Noto Sans SC"/>
              </a:rPr>
              <a:t>04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381500" y="0"/>
            <a:ext cx="7810500" cy="22383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381500" y="0"/>
            <a:ext cx="7810500" cy="2247900"/>
          </a:xfrm>
          <a:custGeom>
            <a:pathLst>
              <a:path w="820" h="236">
                <a:moveTo>
                  <a:pt x="0" y="235"/>
                </a:moveTo>
                <a:lnTo>
                  <a:pt x="820" y="235"/>
                </a:lnTo>
                <a:lnTo>
                  <a:pt x="820" y="236"/>
                </a:lnTo>
                <a:lnTo>
                  <a:pt x="0" y="23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067300" y="60007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第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04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067300" y="904875"/>
            <a:ext cx="4095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5067300" y="1619250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9372600" y="647700"/>
            <a:ext cx="2133600" cy="9525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601200" y="742950"/>
            <a:ext cx="16764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E4FA8"/>
                </a:solidFill>
                <a:latin typeface="Noto Sans SC"/>
                <a:ea typeface="Noto Sans SC"/>
              </a:rPr>
              <a:t>P15–P16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0134600" y="1352550"/>
            <a:ext cx="60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4A5568"/>
                </a:solidFill>
                <a:latin typeface="Noto Sans SC"/>
                <a:ea typeface="Noto Sans SC"/>
              </a:rPr>
              <a:t>本章范围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5105400" y="25146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5067300" y="25146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5295900" y="27336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两个免安装入口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524500" y="2943225"/>
            <a:ext cx="3524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演示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国内直连镜像，浏览器直接打开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10648950" y="2800350"/>
            <a:ext cx="66675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0782300" y="28575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免安装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105400" y="352425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5067300" y="352425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295900" y="374332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524500" y="365760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演示账号一键登录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24500" y="39528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前端「一键使用演示账号」按钮，无需手输密码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10515600" y="381000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648950" y="3867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一键登录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5105400" y="4533900"/>
            <a:ext cx="6438900" cy="838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5067300" y="4533900"/>
            <a:ext cx="6477000" cy="838200"/>
          </a:xfrm>
          <a:custGeom>
            <a:pathLst>
              <a:path w="680" h="88">
                <a:moveTo>
                  <a:pt x="0" y="0"/>
                </a:moveTo>
                <a:lnTo>
                  <a:pt x="4" y="0"/>
                </a:lnTo>
                <a:lnTo>
                  <a:pt x="4" y="88"/>
                </a:lnTo>
                <a:lnTo>
                  <a:pt x="0" y="8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295900" y="47529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524500" y="466725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Noto Sans SC"/>
                <a:ea typeface="Noto Sans SC"/>
              </a:rPr>
              <a:t>证据当场可复现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524500" y="4962525"/>
            <a:ext cx="335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开发者模式自检面板</a:t>
            </a:r>
            <a:r>
              <a:rPr lang="en-US" sz="1200">
                <a:solidFill>
                  <a:srgbClr val="4A5568"/>
                </a:solidFill>
                <a:latin typeface="Noto Sans SC"/>
                <a:ea typeface="Noto Sans SC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Noto Sans SC"/>
                <a:ea typeface="Noto Sans SC"/>
              </a:rPr>
              <a:t>双引擎对拍脚本可现场运行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515600" y="4819650"/>
            <a:ext cx="800100" cy="2762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648950" y="48768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4FA8"/>
                </a:solidFill>
                <a:latin typeface="Noto Sans SC"/>
                <a:ea typeface="Noto Sans SC"/>
              </a:rPr>
              <a:t>当场复现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381500" y="5429250"/>
            <a:ext cx="7810500" cy="14287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067300" y="572452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本章邀请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067300" y="5981700"/>
            <a:ext cx="4953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7E3F5"/>
                </a:solidFill>
                <a:latin typeface="Noto Sans SC"/>
                <a:ea typeface="Noto Sans SC"/>
              </a:rPr>
              <a:t>请访客现场打开链接、登录账号、运行对拍脚本——所有数字都经得起核对。</a:t>
            </a:r>
            <a:endParaRPr/>
          </a:p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91825" y="5819775"/>
            <a:ext cx="285750" cy="2857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0363200" y="6162675"/>
            <a:ext cx="11430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第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04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章</a:t>
            </a:r>
            <a:r>
              <a:rPr lang="en-US" sz="975" spc="75">
                <a:solidFill>
                  <a:srgbClr val="9FB9E4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975" spc="75">
                <a:solidFill>
                  <a:srgbClr val="9FB9E4"/>
                </a:solidFill>
                <a:latin typeface="Noto Sans SC"/>
                <a:ea typeface="Noto Sans SC"/>
              </a:rPr>
              <a:t>现场验证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9" name="" descr="&lt;Slide style={{&#10;    width: '1280px',&#10;    height: '720px',&#10;    background: '#FFFFFF',&#10;    padding: 0,&#10;    position: 'relative',&#10;    overflow: 'hidden',&#10;    fontFamily: &quot;'Noto Sans SC','Source Han Sans SC','PingFang SC','Microsoft YaHei',sans-serif&quot;,&#10;}}&gt;&#10;    {/* 顶部深蓝条（呼应封面） */}&#10;    &lt;Box style={{ position: 'absolute', top: 0, left: 0, width: '720', height: 14, background: '#0E3F8C' }} /&gt;&#10;    {/* 左：骑线文字入口区 */}&#10;    &lt;Box style={{ position: 'absolute', top: 0, left: 0, width: 720, height: 720, padding: '58px 56px 0 64px', boxSizing: 'border-box' }}&gt;&#10;        &lt;Text style={{ fontSize: 15, color: '#3D7BD9', letterSpacing: 4, fontWeight: 'bold' }}&gt;&#10;            04 现场验证 · LIVE VERIFICATION&#10;        &lt;/Text&gt;&#10;        &lt;Text style={{ fontSize: 46, fontWeight: 'bold', color: '#0E3F8C', marginTop: 12 }}&gt;&#10;            现在就可以验证&#10;        &lt;/Text&gt;&#10;        &lt;Box style={{ flexDirection: 'column', gap: 14, marginTop: 28 }}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1&lt;/Text&gt;&#10;                &lt;/Box&gt;&#10;                &lt;Box style={{ flex: 1 }}&gt;&#10;                    &lt;Text style={{ fontSize: 18, fontWeight: 'bold', color: '#1A2230' }}&gt;&#10;                        GitHub Pages 演示（免安装）&#10;                    &lt;/Text&gt;&#10;                    &lt;Text style={{ fontSize: 13.5, color: '#3D7BD9', marginTop: 3 }}&gt;&#10;                        https://penguin-zhou.github.io/FutureMirror/&#10;                    &lt;/Text&gt;&#10;                &lt;/Box&gt;&#10;            &lt;/Box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2&lt;/Text&gt;&#10;                &lt;/Box&gt;&#10;                &lt;Box style={{ flex: 1 }}&gt;&#10;                    &lt;Text style={{ fontSize: 18, fontWeight: 'bold', color: '#1A2230' }}&gt;&#10;                        国内直连镜像（赛场网络友好）&#10;                    &lt;/Text&gt;&#10;                    &lt;Text style={{ fontSize: 13.5, color: '#3D7BD9', marginTop: 3 }}&gt;&#10;                        https://futuremirror-demo.app.workbuddy.host/&#10;                    &lt;/Text&gt;&#10;                &lt;/Box&gt;&#10;            &lt;/Box&gt;&#10;            &lt;Box style={{ background: '#F7F9FC', border: '1px solid #D6DCE5', padding: '15px 18px', flexDirection: 'row', alignItems: 'center', gap: 16 }}&gt;&#10;                &lt;Box style={{ width: 40, height: 40, background: '#1E4FA8', justifyContent: 'center', alignItems: 'center' }}&gt;&#10;                    &lt;Text style={{ fontSize: 18, fontWeight: 'bold', color: '#FFFFFF' }}&gt;3&lt;/Text&gt;&#10;                &lt;/Box&gt;&#10;                &lt;Box style={{ flex: 1 }}&gt;&#10;                    &lt;Text style={{ fontSize: 18, fontWeight: 'bold', color: '#1A2230' }}&gt;&#10;                        演示账号一键登录&#10;                    &lt;/Text&gt;&#10;                    &lt;Text style={{ fontSize: 13.5, color: '#4A5568', marginTop: 3 }}&gt;&#10;                        demo@futuremirror.app · 登录页点「一键使用演示账号」&#10;                    &lt;/Text&gt;&#10;                &lt;/Box&gt;&#10;            &lt;/Box&gt;&#10;            &lt;Box style={{ background: '#FFFFFF', border: '1px solid #D6DCE5', borderLeft: '4px solid #FFC107', padding: '12px 18px', marginTop: 4 }}&gt;&#10;                &lt;Text style={{ fontSize: 15, fontWeight: 'bold', color: '#0E3F8C' }}&gt;&#10;                    现场可要求的演示&#10;                &lt;/Text&gt;&#10;                &lt;Text style={{ fontSize: 13.5, color: '#4A5568', marginTop: 4, lineHeight: 1.55 }}&gt;&#10;                    断网刷新页面——系统自动降级到本地 Mock，面试流程不中断；开发者模式（Ctrl+Shift+J）可看自检面板。&#10;                &lt;/Text&gt;&#10;            &lt;/Box&gt;&#10;        &lt;/Box&gt;&#10;        {/* 底部金句条 */}&#10;        &lt;Box style={{ position: 'absolute', bottom: 46, left: 64, right: 56, background: '#0E3F8C', padding: '16px 20px' }}&gt;&#10;            &lt;Text style={{ fontSize: 17, fontWeight: 'bold', color: '#FFFFFF', lineHeight: 1.5 }}&gt;&#10;                做法来自设计，证据可以当场复现&#10;            &lt;/Text&gt;&#10;            &lt;Text style={{ fontSize: 14, color: '#9FB9E4', marginTop: 4 }}&gt;&#10;                —— 恳请访客现场指正&#10;            &lt;/Text&gt;&#10;        &lt;/Box&gt;&#10;    &lt;/Box&gt;&#10;    {/* 右：藏蓝二维码与文档面板 */}&#10;    &lt;Box style={{ position: 'absolute', top: 0, left: 720, width: 560, height: 720, background: '#0E3F8C', padding: '58px 56px 0 56px', boxSizing: 'border-box', alignItems: 'center' }}&gt;&#10;        &lt;Text style={{ fontSize: 16, color: '#9FB9E4', letterSpacing: 3 }}&gt;&#10;            扫码打开演示&#10;        &lt;/Text&gt;&#10;        &lt;Box style={{ background: '#FFFFFF', padding: 14, marginTop: 20 }}&gt;&#10;            &lt;QRCode&#10;                text='https://penguin-zhou.github.io/FutureMirror/'&#10;                width={216}&#10;                darkColor='#0E3F8C'&#10;                lightColor='#FFFFFF'&#10;                errorCorrectionLevel='Q'&#10;            /&gt;&#10;        &lt;/Box&gt;&#10;        &lt;Text style={{ fontSize: 14, color: '#D7E3F5', marginTop: 14 }}&gt;&#10;            手机扫码即可打开（GitHub Pages）&#10;        &lt;/Text&gt;&#10;        &lt;Box style={{ width: 200, height: 1, background: '#2E63BE', marginTop: 36 }} /&gt;&#10;        &lt;Box style={{ marginTop: 28, width: '100%' }}&gt;&#10;            &lt;Text style={{ fontSize: 15, fontWeight: 'bold', color: '#FFFFFF' }}&gt;&#10;                技术文档 · 第 7 章&#10;            &lt;/Text&gt;&#10;            &lt;Text style={{ fontSize: 13, color: '#9FB9E4', marginTop: 6, lineHeight: 1.6 }}&gt;&#10;                核心算法详解与原创性论证&lt;br /&gt;两个渠道均可在线阅读&#10;            &lt;/Text&gt;&#10;        &lt;/Box&gt;&#10;        &lt;Box style={{ marginTop: 22, width: '100%' }}&gt;&#10;            &lt;Text style={{ fontSize: 15, fontWeight: 'bold', color: '#FFFFFF' }}&gt;&#10;                开源仓库&#10;            &lt;/Text&gt;&#10;            &lt;Text style={{ fontSize: 13, color: '#9FB9E4', marginTop: 6, lineHeight: 1.6 }}&gt;&#10;                github.com/penguin-zhou/FutureMirror&lt;br /&gt;MIT · 完整 Git 提交记录可查&#10;            &lt;/Text&gt;&#10;        &lt;/Box&gt;&#10;        &lt;Box style={{ flex: 1 }} /&gt;&#10;        &lt;Text style={{ fontSize: 13, color: '#9FB9E4', marginBottom: 34, letterSpacing: 2 }}&gt;&#10;            面镜 FutureMirror · 2026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0" y="0"/>
            <a:ext cx="6858000" cy="1333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5715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04 </a:t>
            </a:r>
            <a:r>
              <a:rPr lang="zh-CN" sz="1125" b="1" spc="300">
                <a:solidFill>
                  <a:srgbClr val="3D7BD9"/>
                </a:solidFill>
                <a:latin typeface="Noto Sans SC"/>
                <a:ea typeface="Noto Sans SC"/>
              </a:rPr>
              <a:t>现场验证</a:t>
            </a:r>
            <a:r>
              <a:rPr lang="en-US" sz="1125" b="1" spc="300">
                <a:solidFill>
                  <a:srgbClr val="3D7BD9"/>
                </a:solidFill>
                <a:latin typeface="Noto Sans SC"/>
                <a:ea typeface="Noto Sans SC"/>
              </a:rPr>
              <a:t xml:space="preserve"> · LIVE VERIFICATION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5715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Noto Sans SC"/>
                <a:ea typeface="Noto Sans SC"/>
              </a:rPr>
              <a:t>现在就可以验证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163830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781050" y="179070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923925" y="187642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314450" y="17811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Noto Sans SC"/>
                <a:ea typeface="Noto Sans SC"/>
              </a:rPr>
              <a:t xml:space="preserve">GitHub Pages </a:t>
            </a: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演示（免安装）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314450" y="20193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D7BD9"/>
                </a:solidFill>
                <a:latin typeface="Noto Sans SC"/>
                <a:ea typeface="Noto Sans SC"/>
              </a:rPr>
              <a:t>https://penguin-zhou.github.io/FutureMirror/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245745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81050" y="26098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23925" y="269557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14450" y="260032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国内直连镜像（赛场网络友好）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314450" y="283845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D7BD9"/>
                </a:solidFill>
                <a:latin typeface="Noto Sans SC"/>
                <a:ea typeface="Noto Sans SC"/>
              </a:rPr>
              <a:t>https://futuremirror-demo.app.workbuddy.host/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276600"/>
            <a:ext cx="571500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81050" y="342900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23925" y="3514725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314450" y="3419475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Noto Sans SC"/>
                <a:ea typeface="Noto Sans SC"/>
              </a:rPr>
              <a:t>演示账号一键登录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314450" y="36576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demo@futuremirror.app · 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登录页点「一键使用演示账号」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47700" y="4133850"/>
            <a:ext cx="5715000" cy="923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133850"/>
            <a:ext cx="5753100" cy="923925"/>
          </a:xfrm>
          <a:custGeom>
            <a:pathLst>
              <a:path w="604" h="97">
                <a:moveTo>
                  <a:pt x="0" y="0"/>
                </a:moveTo>
                <a:lnTo>
                  <a:pt x="4" y="0"/>
                </a:lnTo>
                <a:lnTo>
                  <a:pt x="4" y="97"/>
                </a:lnTo>
                <a:lnTo>
                  <a:pt x="0" y="97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19150" y="42481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Noto Sans SC"/>
                <a:ea typeface="Noto Sans SC"/>
              </a:rPr>
              <a:t>现场可要求的演示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19150" y="4457700"/>
            <a:ext cx="53340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断网刷新页面——系统自动降级到本地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 xml:space="preserve"> Mock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，面试流程不中断；开发者模式（</a:t>
            </a:r>
            <a:r>
              <a:rPr lang="en-US" sz="1013">
                <a:solidFill>
                  <a:srgbClr val="4A5568"/>
                </a:solidFill>
                <a:latin typeface="Noto Sans SC"/>
                <a:ea typeface="Noto Sans SC"/>
              </a:rPr>
              <a:t>Ctrl+Shift+J</a:t>
            </a:r>
            <a:r>
              <a:rPr lang="zh-CN" sz="1013">
                <a:solidFill>
                  <a:srgbClr val="4A5568"/>
                </a:solidFill>
                <a:latin typeface="Noto Sans SC"/>
                <a:ea typeface="Noto Sans SC"/>
              </a:rPr>
              <a:t>）可看自检面板。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5619750"/>
            <a:ext cx="5715000" cy="8001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0100" y="577215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FFFF"/>
                </a:solidFill>
                <a:latin typeface="Noto Sans SC"/>
                <a:ea typeface="Noto Sans SC"/>
              </a:rPr>
              <a:t>做法来自设计，证据可以当场复现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00100" y="610552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FB9E4"/>
                </a:solidFill>
                <a:latin typeface="Noto Sans SC"/>
                <a:ea typeface="Noto Sans SC"/>
              </a:rPr>
              <a:t xml:space="preserve">—— </a:t>
            </a:r>
            <a:r>
              <a:rPr lang="zh-CN" sz="1050">
                <a:solidFill>
                  <a:srgbClr val="9FB9E4"/>
                </a:solidFill>
                <a:latin typeface="Noto Sans SC"/>
                <a:ea typeface="Noto Sans SC"/>
              </a:rPr>
              <a:t>恳请访客现场指正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982075" y="552450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9FB9E4"/>
                </a:solidFill>
                <a:latin typeface="Noto Sans SC"/>
                <a:ea typeface="Noto Sans SC"/>
              </a:rPr>
              <a:t>扫码打开演示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362950" y="933450"/>
            <a:ext cx="2324100" cy="2324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9" name="" descr="QR Code: https://penguin-zhou.github.io/FutureMirror/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96300" y="1066800"/>
            <a:ext cx="2057400" cy="205740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467725" y="33909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手机扫码即可打开（</a:t>
            </a:r>
            <a:r>
              <a:rPr lang="en-US" sz="1050">
                <a:solidFill>
                  <a:srgbClr val="D7E3F5"/>
                </a:solidFill>
                <a:latin typeface="Noto Sans SC"/>
                <a:ea typeface="Noto Sans SC"/>
              </a:rPr>
              <a:t>GitHub Pages</a:t>
            </a:r>
            <a:r>
              <a:rPr lang="zh-CN" sz="1050">
                <a:solidFill>
                  <a:srgbClr val="D7E3F5"/>
                </a:solidFill>
                <a:latin typeface="Noto Sans SC"/>
                <a:ea typeface="Noto Sans SC"/>
              </a:rPr>
              <a:t>）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572500" y="3895725"/>
            <a:ext cx="1905000" cy="9525"/>
          </a:xfrm>
          <a:prstGeom prst="rect">
            <a:avLst/>
          </a:prstGeom>
          <a:solidFill>
            <a:srgbClr val="2E63BE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391400" y="41719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技术文档</a:t>
            </a:r>
            <a:r>
              <a:rPr lang="en-US" sz="1125" b="1">
                <a:solidFill>
                  <a:srgbClr val="FFFFFF"/>
                </a:solidFill>
                <a:latin typeface="Noto Sans SC"/>
                <a:ea typeface="Noto Sans SC"/>
              </a:rPr>
              <a:t xml:space="preserve"> · </a:t>
            </a: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Noto Sans SC"/>
                <a:ea typeface="Noto Sans SC"/>
              </a:rPr>
              <a:t xml:space="preserve"> 7 </a:t>
            </a: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章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391400" y="4400550"/>
            <a:ext cx="42672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核心算法详解与原创性论证</a:t>
            </a:r>
            <a:endParaRPr/>
          </a:p>
          <a:p>
            <a:pPr>
              <a:lnSpc>
                <a:spcPct val="160000"/>
              </a:lnSpc>
            </a:pP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两个渠道均可在线阅读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91400" y="50863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Noto Sans SC"/>
                <a:ea typeface="Noto Sans SC"/>
              </a:rPr>
              <a:t>开源仓库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391400" y="5314950"/>
            <a:ext cx="42672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>github.com/penguin-zhou/FutureMirror</a:t>
            </a:r>
            <a:endParaRPr/>
          </a:p>
          <a:p>
            <a:pPr>
              <a:lnSpc>
                <a:spcPct val="160000"/>
              </a:lnSpc>
            </a:pP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MIT ·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完整</a:t>
            </a:r>
            <a:r>
              <a:rPr lang="en-US" sz="975">
                <a:solidFill>
                  <a:srgbClr val="9FB9E4"/>
                </a:solidFill>
                <a:latin typeface="Noto Sans SC"/>
                <a:ea typeface="Noto Sans SC"/>
              </a:rPr>
              <a:t xml:space="preserve"> Git </a:t>
            </a:r>
            <a:r>
              <a:rPr lang="zh-CN" sz="975">
                <a:solidFill>
                  <a:srgbClr val="9FB9E4"/>
                </a:solidFill>
                <a:latin typeface="Noto Sans SC"/>
                <a:ea typeface="Noto Sans SC"/>
              </a:rPr>
              <a:t>提交记录可查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620125" y="6381750"/>
            <a:ext cx="181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9FB9E4"/>
                </a:solidFill>
                <a:latin typeface="Noto Sans SC"/>
                <a:ea typeface="Noto Sans SC"/>
              </a:rPr>
              <a:t>面镜</a:t>
            </a:r>
            <a:r>
              <a:rPr lang="en-US" sz="975" spc="150">
                <a:solidFill>
                  <a:srgbClr val="9FB9E4"/>
                </a:solidFill>
                <a:latin typeface="Noto Sans SC"/>
                <a:ea typeface="Noto Sans SC"/>
              </a:rPr>
              <a:t xml:space="preserve"> FutureMirror · 2026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2026-10-21T13:06:09Z</dcterms:created>
  <dcterms:modified xsi:type="dcterms:W3CDTF">2026-10-21T13:06:09Z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{"AIGC":{"Label":"1","ContentProducer":"00119111010856365494821B355","ProduceID":"01a15a02c37271949eadbb6daf889755","ReservedCode1":"","ContentPropagator":"00119111010856365494821B355","PropagateID":"01a15a02c37271949eadbb6daf889755","ReservedCode2":""}}</vt:lpwstr>
  </property>
</Properties>
</file>